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Work Sans"/>
      <p:regular r:id="rId30"/>
      <p:bold r:id="rId31"/>
      <p:italic r:id="rId32"/>
      <p:boldItalic r:id="rId33"/>
    </p:embeddedFont>
    <p:embeddedFont>
      <p:font typeface="Work Sans Ligh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gmOIdB6UXGK10N/InpSw9bBby+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WorkSans-bold.fntdata"/><Relationship Id="rId30" Type="http://schemas.openxmlformats.org/officeDocument/2006/relationships/font" Target="fonts/WorkSans-regular.fntdata"/><Relationship Id="rId11" Type="http://schemas.openxmlformats.org/officeDocument/2006/relationships/slide" Target="slides/slide7.xml"/><Relationship Id="rId33" Type="http://schemas.openxmlformats.org/officeDocument/2006/relationships/font" Target="fonts/WorkSans-boldItalic.fntdata"/><Relationship Id="rId10" Type="http://schemas.openxmlformats.org/officeDocument/2006/relationships/slide" Target="slides/slide6.xml"/><Relationship Id="rId32" Type="http://schemas.openxmlformats.org/officeDocument/2006/relationships/font" Target="fonts/WorkSans-italic.fntdata"/><Relationship Id="rId13" Type="http://schemas.openxmlformats.org/officeDocument/2006/relationships/slide" Target="slides/slide9.xml"/><Relationship Id="rId35" Type="http://schemas.openxmlformats.org/officeDocument/2006/relationships/font" Target="fonts/WorkSansLight-bold.fntdata"/><Relationship Id="rId12" Type="http://schemas.openxmlformats.org/officeDocument/2006/relationships/slide" Target="slides/slide8.xml"/><Relationship Id="rId34" Type="http://schemas.openxmlformats.org/officeDocument/2006/relationships/font" Target="fonts/WorkSansLight-regular.fntdata"/><Relationship Id="rId15" Type="http://schemas.openxmlformats.org/officeDocument/2006/relationships/slide" Target="slides/slide11.xml"/><Relationship Id="rId37" Type="http://schemas.openxmlformats.org/officeDocument/2006/relationships/font" Target="fonts/WorkSansLight-boldItalic.fntdata"/><Relationship Id="rId14" Type="http://schemas.openxmlformats.org/officeDocument/2006/relationships/slide" Target="slides/slide10.xml"/><Relationship Id="rId36" Type="http://schemas.openxmlformats.org/officeDocument/2006/relationships/font" Target="fonts/WorkSansLight-italic.fntdata"/><Relationship Id="rId17" Type="http://schemas.openxmlformats.org/officeDocument/2006/relationships/slide" Target="slides/slide13.xml"/><Relationship Id="rId16" Type="http://schemas.openxmlformats.org/officeDocument/2006/relationships/slide" Target="slides/slide12.xml"/><Relationship Id="rId38" Type="http://customschemas.google.com/relationships/presentationmetadata" Target="meta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C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Portada + Integrantes: ⏱ 0:30 en total. Nombre del proyecto y presentación rápida del equipo. Reparto sugerido (ítem 12, participan todos): Integrante 1 contexto · 2 requisitos · 3 arquitectura · 4 base de datos · todos front-end y cierre.</a:t>
            </a:r>
            <a:endParaRPr/>
          </a:p>
        </p:txBody>
      </p:sp>
      <p:sp>
        <p:nvSpPr>
          <p:cNvPr id="97" name="Google Shape;9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O"/>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Integrantes y número de GAES. Incluido en los 0:30 de la portada.</a:t>
            </a:r>
            <a:endParaRPr/>
          </a:p>
        </p:txBody>
      </p:sp>
      <p:sp>
        <p:nvSpPr>
          <p:cNvPr id="104" name="Google Shape;10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O"/>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0:15. Presenta en una frase la ruta: primero el contexto, luego lo que se diseñó en el Trimestre 2 (requisitos) y cómo se materializó en el Trimestre 3 (arquitectura, base de datos y front-end). Ítem 11 de la lista de chequeo: cumplir el tiempo. Designen a alguien que controle el reloj.</a:t>
            </a:r>
            <a:endParaRPr/>
          </a:p>
        </p:txBody>
      </p:sp>
      <p:sp>
        <p:nvSpPr>
          <p:cNvPr id="113" name="Google Shape;11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0:45. Describe la situación actual del cliente, quién se ve afectado y qué consecuencias tiene. Cierra con la pregunta problema. Evita leer la diapositiva.</a:t>
            </a:r>
            <a:endParaRPr/>
          </a:p>
        </p:txBody>
      </p:sp>
      <p:sp>
        <p:nvSpPr>
          <p:cNvPr id="155" name="Google Shape;15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0:30. Explica por qué vale la pena el aplicativo: qué mejora, a quién beneficia y por qué una solución web.</a:t>
            </a:r>
            <a:endParaRPr/>
          </a:p>
        </p:txBody>
      </p:sp>
      <p:sp>
        <p:nvSpPr>
          <p:cNvPr id="167" name="Google Shape;16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0:30. Lee solo el objetivo general; de los específicos menciona los verbos clave (analizar, diseñar, construir, implementar). Se unifican aquí los objetivos de los dos trimestres.</a:t>
            </a:r>
            <a:endParaRPr/>
          </a:p>
        </p:txBody>
      </p:sp>
      <p:sp>
        <p:nvSpPr>
          <p:cNvPr id="190" name="Google Shape;19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Transición (5 s). Cambio de expositor si aplica (ítem 12: participan todos).</a:t>
            </a:r>
            <a:endParaRPr/>
          </a:p>
        </p:txBody>
      </p:sp>
      <p:sp>
        <p:nvSpPr>
          <p:cNvPr id="203" name="Google Shape;20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1:00. Ítem 1: muestra que el documento está actualizado y que hay trazabilidad (identificación, cambios, versiones). Señala un requisito y síguelo hasta su HU y su caso de uso.</a:t>
            </a:r>
            <a:endParaRPr/>
          </a:p>
        </p:txBody>
      </p:sp>
      <p:sp>
        <p:nvSpPr>
          <p:cNvPr id="211" name="Google Shape;21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1:00. Ítem 2: presenta 2–3 HU del proceso principal con el formato “Como [rol] quiero [función] para [beneficio]” y sus criterios de aceptación. Relaciónalas con los requisitos.</a:t>
            </a:r>
            <a:endParaRPr/>
          </a:p>
        </p:txBody>
      </p:sp>
      <p:sp>
        <p:nvSpPr>
          <p:cNvPr id="221" name="Google Shape;22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1:00. Ítem 3: muestra el diagrama del proceso principal y la especificación de UN caso de uso completo (actores, objetivo, precondiciones, flujo principal, alternos y postcondiciones). El diagrama de actividades y el de secuencias quedan en Anexos por si el jurado pregunta.</a:t>
            </a:r>
            <a:endParaRPr/>
          </a:p>
        </p:txBody>
      </p:sp>
      <p:sp>
        <p:nvSpPr>
          <p:cNvPr id="231" name="Google Shape;23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Transición (5 s). Ítem 10: el documento del producto debe incorporar estas vistas.</a:t>
            </a:r>
            <a:endParaRPr/>
          </a:p>
        </p:txBody>
      </p:sp>
      <p:sp>
        <p:nvSpPr>
          <p:cNvPr id="245" name="Google Shape;24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1:00. Ítem 10.3. Explica las clases principales, atributos clave y relaciones (asociación, herencia, multiplicidad). Menciona que este diagrama es el puente con el modelo de datos.</a:t>
            </a:r>
            <a:endParaRPr/>
          </a:p>
        </p:txBody>
      </p:sp>
      <p:sp>
        <p:nvSpPr>
          <p:cNvPr id="253" name="Google Shape;25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0:45. Ítem 10.1. Recorre los componentes (front-end, lógica/API, base de datos) y sus interfaces.</a:t>
            </a:r>
            <a:endParaRPr/>
          </a:p>
        </p:txBody>
      </p:sp>
      <p:sp>
        <p:nvSpPr>
          <p:cNvPr id="267" name="Google Shape;26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0:45. Ítem 10.2. Muestra cómo se organiza el código (capas o módulos) y sus dependencias.</a:t>
            </a:r>
            <a:endParaRPr/>
          </a:p>
        </p:txBody>
      </p:sp>
      <p:sp>
        <p:nvSpPr>
          <p:cNvPr id="281" name="Google Shape;281;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Transición (5 s). Cambio de expositor si aplica.</a:t>
            </a:r>
            <a:endParaRPr/>
          </a:p>
        </p:txBody>
      </p:sp>
      <p:sp>
        <p:nvSpPr>
          <p:cNvPr id="295" name="Google Shape;29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0:50. Ítem 4: entidades, atributos, relaciones y cardinalidades según los requerimientos de información.</a:t>
            </a:r>
            <a:endParaRPr/>
          </a:p>
        </p:txBody>
      </p:sp>
      <p:sp>
        <p:nvSpPr>
          <p:cNvPr id="303" name="Google Shape;303;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0:50. Ítem 5: muestra el modelo en MySQL Workbench (u otro SGBD): tablas, PK, FK, restricciones e integridad. El diccionario de datos queda en Anexos.</a:t>
            </a:r>
            <a:endParaRPr/>
          </a:p>
        </p:txBody>
      </p:sp>
      <p:sp>
        <p:nvSpPr>
          <p:cNvPr id="317" name="Google Shape;31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0:55. Ítem 6: script de creación (DDL), carga de datos (DML) y una consulta multitabla con su resultado. Idealmente ejecútala en vivo si el tiempo lo permite.</a:t>
            </a:r>
            <a:endParaRPr/>
          </a:p>
        </p:txBody>
      </p:sp>
      <p:sp>
        <p:nvSpPr>
          <p:cNvPr id="331" name="Google Shape;33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0:55. Ítem 7: un ejemplo de cada uno con su ejecución y la regla de negocio que automatiza o valida. La tabla de roles y permisos queda en Anexos.</a:t>
            </a:r>
            <a:endParaRPr/>
          </a:p>
        </p:txBody>
      </p:sp>
      <p:sp>
        <p:nvSpPr>
          <p:cNvPr id="345" name="Google Shape;345;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Transición (5 s).</a:t>
            </a:r>
            <a:endParaRPr/>
          </a:p>
        </p:txBody>
      </p:sp>
      <p:sp>
        <p:nvSpPr>
          <p:cNvPr id="365" name="Google Shape;36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0:45. Ítem 8: estructura, distribución de contenido y navegación del proceso principal. Deja el wireframe a la izquierda para compararlo luego con la página real.</a:t>
            </a:r>
            <a:endParaRPr/>
          </a:p>
        </p:txBody>
      </p:sp>
      <p:sp>
        <p:nvSpPr>
          <p:cNvPr id="373" name="Google Shape;373;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 1:45. Ítem 9: demo corta (máx. 1 min) o capturas de la interfaz de inicio y del formulario. Muestra una validación de formulario fallando y luego pasando. Menciona etiquetas semánticas HTML5, CSS3 y JS.</a:t>
            </a:r>
            <a:endParaRPr/>
          </a:p>
        </p:txBody>
      </p:sp>
      <p:sp>
        <p:nvSpPr>
          <p:cNvPr id="387" name="Google Shape;387;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No presentar. Úsalo solo si el jurado pregunta.</a:t>
            </a:r>
            <a:endParaRPr/>
          </a:p>
        </p:txBody>
      </p:sp>
      <p:sp>
        <p:nvSpPr>
          <p:cNvPr id="406" name="Google Shape;406;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s-CO" sz="1200" u="none" cap="none" strike="noStrike">
                <a:solidFill>
                  <a:schemeClr val="dk1"/>
                </a:solidFill>
                <a:latin typeface="Calibri"/>
                <a:ea typeface="Calibri"/>
                <a:cs typeface="Calibri"/>
                <a:sym typeface="Calibri"/>
              </a:rPr>
              <a:t>Respaldo para preguntas del jurado.</a:t>
            </a:r>
            <a:endParaRPr/>
          </a:p>
        </p:txBody>
      </p:sp>
      <p:sp>
        <p:nvSpPr>
          <p:cNvPr id="414" name="Google Shape;414;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15" name="Shape 15"/>
        <p:cNvGrpSpPr/>
        <p:nvPr/>
      </p:nvGrpSpPr>
      <p:grpSpPr>
        <a:xfrm>
          <a:off x="0" y="0"/>
          <a:ext cx="0" cy="0"/>
          <a:chOff x="0" y="0"/>
          <a:chExt cx="0" cy="0"/>
        </a:xfrm>
      </p:grpSpPr>
      <p:pic>
        <p:nvPicPr>
          <p:cNvPr descr="Interfaz de usuario gráfica, Texto, Aplicación&#10;&#10;Descripción generada automáticamente" id="16" name="Google Shape;16;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17" name="Shape 17"/>
        <p:cNvGrpSpPr/>
        <p:nvPr/>
      </p:nvGrpSpPr>
      <p:grpSpPr>
        <a:xfrm>
          <a:off x="0" y="0"/>
          <a:ext cx="0" cy="0"/>
          <a:chOff x="0" y="0"/>
          <a:chExt cx="0" cy="0"/>
        </a:xfrm>
      </p:grpSpPr>
      <p:pic>
        <p:nvPicPr>
          <p:cNvPr descr="Patrón de fondo&#10;&#10;Descripción generada automáticamente" id="18" name="Google Shape;18;p12"/>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9" name="Google Shape;19;p12"/>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5" name="Shape 25"/>
        <p:cNvGrpSpPr/>
        <p:nvPr/>
      </p:nvGrpSpPr>
      <p:grpSpPr>
        <a:xfrm>
          <a:off x="0" y="0"/>
          <a:ext cx="0" cy="0"/>
          <a:chOff x="0" y="0"/>
          <a:chExt cx="0" cy="0"/>
        </a:xfrm>
      </p:grpSpPr>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9" name="Shape 29"/>
        <p:cNvGrpSpPr/>
        <p:nvPr/>
      </p:nvGrpSpPr>
      <p:grpSpPr>
        <a:xfrm>
          <a:off x="0" y="0"/>
          <a:ext cx="0" cy="0"/>
          <a:chOff x="0" y="0"/>
          <a:chExt cx="0" cy="0"/>
        </a:xfrm>
      </p:grpSpPr>
      <p:sp>
        <p:nvSpPr>
          <p:cNvPr id="30" name="Google Shape;30;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5" name="Shape 35"/>
        <p:cNvGrpSpPr/>
        <p:nvPr/>
      </p:nvGrpSpPr>
      <p:grpSpPr>
        <a:xfrm>
          <a:off x="0" y="0"/>
          <a:ext cx="0" cy="0"/>
          <a:chOff x="0" y="0"/>
          <a:chExt cx="0" cy="0"/>
        </a:xfrm>
      </p:grpSpPr>
      <p:sp>
        <p:nvSpPr>
          <p:cNvPr id="36" name="Google Shape;3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1" name="Shape 41"/>
        <p:cNvGrpSpPr/>
        <p:nvPr/>
      </p:nvGrpSpPr>
      <p:grpSpPr>
        <a:xfrm>
          <a:off x="0" y="0"/>
          <a:ext cx="0" cy="0"/>
          <a:chOff x="0" y="0"/>
          <a:chExt cx="0" cy="0"/>
        </a:xfrm>
      </p:grpSpPr>
      <p:sp>
        <p:nvSpPr>
          <p:cNvPr id="42" name="Google Shape;42;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7" name="Shape 47"/>
        <p:cNvGrpSpPr/>
        <p:nvPr/>
      </p:nvGrpSpPr>
      <p:grpSpPr>
        <a:xfrm>
          <a:off x="0" y="0"/>
          <a:ext cx="0" cy="0"/>
          <a:chOff x="0" y="0"/>
          <a:chExt cx="0" cy="0"/>
        </a:xfrm>
      </p:grpSpPr>
      <p:sp>
        <p:nvSpPr>
          <p:cNvPr id="48" name="Google Shape;4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3" name="Shape 63"/>
        <p:cNvGrpSpPr/>
        <p:nvPr/>
      </p:nvGrpSpPr>
      <p:grpSpPr>
        <a:xfrm>
          <a:off x="0" y="0"/>
          <a:ext cx="0" cy="0"/>
          <a:chOff x="0" y="0"/>
          <a:chExt cx="0" cy="0"/>
        </a:xfrm>
      </p:grpSpPr>
      <p:sp>
        <p:nvSpPr>
          <p:cNvPr id="64" name="Google Shape;6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8" name="Shape 68"/>
        <p:cNvGrpSpPr/>
        <p:nvPr/>
      </p:nvGrpSpPr>
      <p:grpSpPr>
        <a:xfrm>
          <a:off x="0" y="0"/>
          <a:ext cx="0" cy="0"/>
          <a:chOff x="0" y="0"/>
          <a:chExt cx="0" cy="0"/>
        </a:xfrm>
      </p:grpSpPr>
      <p:sp>
        <p:nvSpPr>
          <p:cNvPr id="69" name="Google Shape;69;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1" name="Google Shape;71;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5" name="Shape 75"/>
        <p:cNvGrpSpPr/>
        <p:nvPr/>
      </p:nvGrpSpPr>
      <p:grpSpPr>
        <a:xfrm>
          <a:off x="0" y="0"/>
          <a:ext cx="0" cy="0"/>
          <a:chOff x="0" y="0"/>
          <a:chExt cx="0" cy="0"/>
        </a:xfrm>
      </p:grpSpPr>
      <p:sp>
        <p:nvSpPr>
          <p:cNvPr id="76" name="Google Shape;76;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p:nvPr>
            <p:ph idx="2" type="pic"/>
          </p:nvPr>
        </p:nvSpPr>
        <p:spPr>
          <a:xfrm>
            <a:off x="5183188" y="987425"/>
            <a:ext cx="6172200" cy="4873625"/>
          </a:xfrm>
          <a:prstGeom prst="rect">
            <a:avLst/>
          </a:prstGeom>
          <a:noFill/>
          <a:ln>
            <a:noFill/>
          </a:ln>
        </p:spPr>
      </p:sp>
      <p:sp>
        <p:nvSpPr>
          <p:cNvPr id="78" name="Google Shape;78;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2" name="Shape 82"/>
        <p:cNvGrpSpPr/>
        <p:nvPr/>
      </p:nvGrpSpPr>
      <p:grpSpPr>
        <a:xfrm>
          <a:off x="0" y="0"/>
          <a:ext cx="0" cy="0"/>
          <a:chOff x="0" y="0"/>
          <a:chExt cx="0" cy="0"/>
        </a:xfrm>
      </p:grpSpPr>
      <p:sp>
        <p:nvSpPr>
          <p:cNvPr id="83" name="Google Shape;8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8" name="Shape 88"/>
        <p:cNvGrpSpPr/>
        <p:nvPr/>
      </p:nvGrpSpPr>
      <p:grpSpPr>
        <a:xfrm>
          <a:off x="0" y="0"/>
          <a:ext cx="0" cy="0"/>
          <a:chOff x="0" y="0"/>
          <a:chExt cx="0" cy="0"/>
        </a:xfrm>
      </p:grpSpPr>
      <p:sp>
        <p:nvSpPr>
          <p:cNvPr id="89" name="Google Shape;89;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ocs.google.com/spreadsheets/d/1qS8WGKN3A7ODN-lwwHM8_cmSKTh_IIy1/edit?usp=drive_link&amp;ouid=111750755644195650833&amp;rtpof=true&amp;sd=" TargetMode="Externa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hyperlink" Target="https://docs.google.com/spreadsheets/d/1E4ZyGB1hiCV1n2uwK-130OsTwEKP9-zM/edit?usp=drive_link&amp;ouid=111750755644195650833&amp;rtpof=true&amp;s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drive.google.com/file/d/1m7CQSlKll59vEKWyI9WVJmVmHPzZubeP/view?usp" TargetMode="External"/><Relationship Id="rId4" Type="http://schemas.openxmlformats.org/officeDocument/2006/relationships/hyperlink" Target="https://drive.google.com/file/d/1m7CQSlKll59vEKWyI9WVJmVmHPzZubeP/view?usp" TargetMode="External"/><Relationship Id="rId5" Type="http://schemas.openxmlformats.org/officeDocument/2006/relationships/hyperlink" Target="https://drive.google.com/file/d/1m7CQSlKll59vEKWyI9WVJmVmHPzZubeP/view?usp" TargetMode="External"/><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drive.google.com/file/d/1grw7_OkhRC1KOOSwIqhi63_0q7G2g5y5/view?usp" TargetMode="External"/><Relationship Id="rId4" Type="http://schemas.openxmlformats.org/officeDocument/2006/relationships/hyperlink" Target="https://drive.google.com/file/d/1grw7_OkhRC1KOOSwIqhi63_0q7G2g5y5/view?usp" TargetMode="External"/><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drive.google.com/file/d/10bUCYu3C-h32i8qjqXw5WUv6Xww7LAfe/view?usp" TargetMode="External"/><Relationship Id="rId4" Type="http://schemas.openxmlformats.org/officeDocument/2006/relationships/hyperlink" Target="https://drive.google.com/file/d/10bUCYu3C-h32i8qjqXw5WUv6Xww7LAfe/view?usp" TargetMode="External"/><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15.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
          <p:cNvSpPr txBox="1"/>
          <p:nvPr/>
        </p:nvSpPr>
        <p:spPr>
          <a:xfrm>
            <a:off x="995421" y="2551837"/>
            <a:ext cx="7710900" cy="221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lang="es-CO" sz="5400">
                <a:solidFill>
                  <a:srgbClr val="3F3F3F"/>
                </a:solidFill>
                <a:latin typeface="Work Sans"/>
                <a:ea typeface="Work Sans"/>
                <a:cs typeface="Work Sans"/>
                <a:sym typeface="Work Sans"/>
              </a:rPr>
              <a:t>EDUGAMEKIDS</a:t>
            </a:r>
            <a:endParaRPr b="1" sz="5400">
              <a:solidFill>
                <a:srgbClr val="3F3F3F"/>
              </a:solidFill>
              <a:latin typeface="Work Sans"/>
              <a:ea typeface="Work Sans"/>
              <a:cs typeface="Work Sans"/>
              <a:sym typeface="Work Sans"/>
            </a:endParaRPr>
          </a:p>
          <a:p>
            <a:pPr indent="0" lvl="0" marL="0" rtl="0" algn="l">
              <a:spcBef>
                <a:spcPts val="0"/>
              </a:spcBef>
              <a:spcAft>
                <a:spcPts val="0"/>
              </a:spcAft>
              <a:buClr>
                <a:schemeClr val="dk1"/>
              </a:buClr>
              <a:buSzPts val="3300"/>
              <a:buFont typeface="Arial"/>
              <a:buNone/>
            </a:pPr>
            <a:r>
              <a:rPr b="1" lang="es-CO" sz="2800">
                <a:solidFill>
                  <a:srgbClr val="3F3F3F"/>
                </a:solidFill>
                <a:latin typeface="Work Sans"/>
                <a:ea typeface="Work Sans"/>
                <a:cs typeface="Work Sans"/>
                <a:sym typeface="Work Sans"/>
              </a:rPr>
              <a:t>Sistema web educativo basado en gamificación para el aprendizaje de niños de educación primaria. </a:t>
            </a:r>
            <a:endParaRPr b="1" i="0" sz="3500" u="none" cap="none" strike="noStrike">
              <a:solidFill>
                <a:srgbClr val="3F3F3F"/>
              </a:solidFill>
              <a:latin typeface="Work Sans"/>
              <a:ea typeface="Work Sans"/>
              <a:cs typeface="Work Sans"/>
              <a:sym typeface="Work Sans"/>
            </a:endParaRPr>
          </a:p>
        </p:txBody>
      </p:sp>
      <p:sp>
        <p:nvSpPr>
          <p:cNvPr id="100" name="Google Shape;100;p1"/>
          <p:cNvSpPr txBox="1"/>
          <p:nvPr/>
        </p:nvSpPr>
        <p:spPr>
          <a:xfrm>
            <a:off x="2848398" y="1036320"/>
            <a:ext cx="7789313"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1400" u="none" cap="none" strike="noStrike">
                <a:solidFill>
                  <a:srgbClr val="000000"/>
                </a:solidFill>
                <a:latin typeface="Arial"/>
                <a:ea typeface="Arial"/>
                <a:cs typeface="Arial"/>
                <a:sym typeface="Arial"/>
              </a:rPr>
              <a:t>CENTRO DE SERVICIOS FINANCIEROS</a:t>
            </a:r>
            <a:endParaRPr/>
          </a:p>
          <a:p>
            <a:pPr indent="0" lvl="0" marL="0" marR="0" rtl="0" algn="ctr">
              <a:lnSpc>
                <a:spcPct val="100000"/>
              </a:lnSpc>
              <a:spcBef>
                <a:spcPts val="0"/>
              </a:spcBef>
              <a:spcAft>
                <a:spcPts val="0"/>
              </a:spcAft>
              <a:buNone/>
            </a:pPr>
            <a:r>
              <a:rPr b="0" i="0" lang="es-CO" sz="1400" u="none" cap="none" strike="noStrike">
                <a:solidFill>
                  <a:srgbClr val="000000"/>
                </a:solidFill>
                <a:latin typeface="Arial"/>
                <a:ea typeface="Arial"/>
                <a:cs typeface="Arial"/>
                <a:sym typeface="Arial"/>
              </a:rPr>
              <a:t>PROYECTO FORMATIVO  </a:t>
            </a:r>
            <a:endParaRPr/>
          </a:p>
          <a:p>
            <a:pPr indent="0" lvl="0" marL="0" marR="0" rtl="0" algn="ctr">
              <a:lnSpc>
                <a:spcPct val="100000"/>
              </a:lnSpc>
              <a:spcBef>
                <a:spcPts val="0"/>
              </a:spcBef>
              <a:spcAft>
                <a:spcPts val="0"/>
              </a:spcAft>
              <a:buNone/>
            </a:pPr>
            <a:r>
              <a:rPr b="0" i="0" lang="es-CO" sz="1400" u="none" cap="none" strike="noStrike">
                <a:solidFill>
                  <a:srgbClr val="000000"/>
                </a:solidFill>
                <a:latin typeface="Arial"/>
                <a:ea typeface="Arial"/>
                <a:cs typeface="Arial"/>
                <a:sym typeface="Arial"/>
              </a:rPr>
              <a:t>DESARROLLO DE APLICATIVOS WEB PARA CONTROL Y GESTION DE LA INFORMACIÓN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nvSpPr>
        <p:spPr>
          <a:xfrm>
            <a:off x="3573518" y="2228671"/>
            <a:ext cx="5998185"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0" i="0" lang="es-CO" sz="7200" u="none" cap="none" strike="noStrike">
                <a:solidFill>
                  <a:schemeClr val="dk1"/>
                </a:solidFill>
                <a:latin typeface="Work Sans Light"/>
                <a:ea typeface="Work Sans Light"/>
                <a:cs typeface="Work Sans Light"/>
                <a:sym typeface="Work Sans Light"/>
              </a:rPr>
              <a:t>Integrantes</a:t>
            </a:r>
            <a:endParaRPr b="0" i="0" sz="7200" u="none" cap="none" strike="noStrike">
              <a:solidFill>
                <a:schemeClr val="dk1"/>
              </a:solidFill>
              <a:latin typeface="Work Sans Light"/>
              <a:ea typeface="Work Sans Light"/>
              <a:cs typeface="Work Sans Light"/>
              <a:sym typeface="Work Sans Light"/>
            </a:endParaRPr>
          </a:p>
        </p:txBody>
      </p:sp>
      <p:cxnSp>
        <p:nvCxnSpPr>
          <p:cNvPr id="107" name="Google Shape;107;p2"/>
          <p:cNvCxnSpPr/>
          <p:nvPr/>
        </p:nvCxnSpPr>
        <p:spPr>
          <a:xfrm>
            <a:off x="5227899" y="3321934"/>
            <a:ext cx="1736203" cy="0"/>
          </a:xfrm>
          <a:prstGeom prst="straightConnector1">
            <a:avLst/>
          </a:prstGeom>
          <a:noFill/>
          <a:ln cap="flat" cmpd="sng" w="9525">
            <a:solidFill>
              <a:srgbClr val="38AA00"/>
            </a:solidFill>
            <a:prstDash val="solid"/>
            <a:miter lim="8000"/>
            <a:headEnd len="sm" w="sm" type="none"/>
            <a:tailEnd len="sm" w="sm" type="none"/>
          </a:ln>
        </p:spPr>
      </p:cxnSp>
      <p:sp>
        <p:nvSpPr>
          <p:cNvPr id="108" name="Google Shape;108;p2"/>
          <p:cNvSpPr txBox="1"/>
          <p:nvPr/>
        </p:nvSpPr>
        <p:spPr>
          <a:xfrm>
            <a:off x="4168816" y="3463724"/>
            <a:ext cx="3854400" cy="181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lang="es-CO" sz="1600">
                <a:solidFill>
                  <a:schemeClr val="dk1"/>
                </a:solidFill>
                <a:latin typeface="Calibri"/>
                <a:ea typeface="Calibri"/>
                <a:cs typeface="Calibri"/>
                <a:sym typeface="Calibri"/>
              </a:rPr>
              <a:t>Scrum 2 </a:t>
            </a:r>
            <a:r>
              <a:rPr b="1" i="0" lang="es-CO" sz="1600" u="none" cap="none" strike="noStrike">
                <a:solidFill>
                  <a:schemeClr val="dk1"/>
                </a:solidFill>
                <a:latin typeface="Calibri"/>
                <a:ea typeface="Calibri"/>
                <a:cs typeface="Calibri"/>
                <a:sym typeface="Calibri"/>
              </a:rPr>
              <a:t>° :</a:t>
            </a:r>
            <a:endParaRPr b="1" sz="1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2400"/>
              <a:buFont typeface="Arial"/>
              <a:buNone/>
            </a:pPr>
            <a:r>
              <a:rPr b="1" lang="es-CO" sz="1600">
                <a:solidFill>
                  <a:schemeClr val="dk1"/>
                </a:solidFill>
                <a:latin typeface="Calibri"/>
                <a:ea typeface="Calibri"/>
                <a:cs typeface="Calibri"/>
                <a:sym typeface="Calibri"/>
              </a:rPr>
              <a:t>Yadit Estefania Mancera Cruz- Scrum Master-Developer </a:t>
            </a:r>
            <a:endParaRPr b="1" sz="1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2400"/>
              <a:buFont typeface="Arial"/>
              <a:buNone/>
            </a:pPr>
            <a:r>
              <a:rPr b="1" lang="es-CO" sz="1600">
                <a:solidFill>
                  <a:schemeClr val="dk1"/>
                </a:solidFill>
                <a:latin typeface="Calibri"/>
                <a:ea typeface="Calibri"/>
                <a:cs typeface="Calibri"/>
                <a:sym typeface="Calibri"/>
              </a:rPr>
              <a:t>              Daniela Sofia Rojas Tapasco -Developer </a:t>
            </a:r>
            <a:endParaRPr b="1" sz="1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2400"/>
              <a:buFont typeface="Arial"/>
              <a:buNone/>
            </a:pPr>
            <a:r>
              <a:rPr b="1" lang="es-CO" sz="1600">
                <a:solidFill>
                  <a:schemeClr val="dk1"/>
                </a:solidFill>
                <a:latin typeface="Calibri"/>
                <a:ea typeface="Calibri"/>
                <a:cs typeface="Calibri"/>
                <a:sym typeface="Calibri"/>
              </a:rPr>
              <a:t>Diego Alejandro Herrera Caro Product Owner-Developer </a:t>
            </a:r>
            <a:endParaRPr b="1" sz="1600">
              <a:solidFill>
                <a:schemeClr val="dk1"/>
              </a:solidFill>
              <a:latin typeface="Calibri"/>
              <a:ea typeface="Calibri"/>
              <a:cs typeface="Calibri"/>
              <a:sym typeface="Calibri"/>
            </a:endParaRPr>
          </a:p>
        </p:txBody>
      </p:sp>
      <p:sp>
        <p:nvSpPr>
          <p:cNvPr id="109" name="Google Shape;109;p2"/>
          <p:cNvSpPr txBox="1"/>
          <p:nvPr/>
        </p:nvSpPr>
        <p:spPr>
          <a:xfrm>
            <a:off x="2873798" y="574044"/>
            <a:ext cx="7789313"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CO" sz="1400" u="none" cap="none" strike="noStrike">
                <a:solidFill>
                  <a:srgbClr val="000000"/>
                </a:solidFill>
                <a:latin typeface="Arial"/>
                <a:ea typeface="Arial"/>
                <a:cs typeface="Arial"/>
                <a:sym typeface="Arial"/>
              </a:rPr>
              <a:t>CENTRO DE SERVICIOS FINANCIEROS</a:t>
            </a:r>
            <a:endParaRPr/>
          </a:p>
          <a:p>
            <a:pPr indent="0" lvl="0" marL="0" marR="0" rtl="0" algn="ctr">
              <a:lnSpc>
                <a:spcPct val="100000"/>
              </a:lnSpc>
              <a:spcBef>
                <a:spcPts val="0"/>
              </a:spcBef>
              <a:spcAft>
                <a:spcPts val="0"/>
              </a:spcAft>
              <a:buNone/>
            </a:pPr>
            <a:r>
              <a:rPr b="0" i="0" lang="es-CO" sz="1400" u="none" cap="none" strike="noStrike">
                <a:solidFill>
                  <a:srgbClr val="000000"/>
                </a:solidFill>
                <a:latin typeface="Arial"/>
                <a:ea typeface="Arial"/>
                <a:cs typeface="Arial"/>
                <a:sym typeface="Arial"/>
              </a:rPr>
              <a:t>PROYECTO FORMATIVO  </a:t>
            </a:r>
            <a:endParaRPr/>
          </a:p>
          <a:p>
            <a:pPr indent="0" lvl="0" marL="0" marR="0" rtl="0" algn="ctr">
              <a:lnSpc>
                <a:spcPct val="100000"/>
              </a:lnSpc>
              <a:spcBef>
                <a:spcPts val="0"/>
              </a:spcBef>
              <a:spcAft>
                <a:spcPts val="0"/>
              </a:spcAft>
              <a:buNone/>
            </a:pPr>
            <a:r>
              <a:rPr b="0" i="0" lang="es-CO" sz="1400" u="none" cap="none" strike="noStrike">
                <a:solidFill>
                  <a:srgbClr val="000000"/>
                </a:solidFill>
                <a:latin typeface="Arial"/>
                <a:ea typeface="Arial"/>
                <a:cs typeface="Arial"/>
                <a:sym typeface="Arial"/>
              </a:rPr>
              <a:t>DESARROLLO DE APLICATIVOS WEB PARA CONTROL Y GESTION DE LA INFORMACIÓN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Agenda · 15 minutos</a:t>
            </a:r>
            <a:endParaRPr/>
          </a:p>
        </p:txBody>
      </p:sp>
      <p:sp>
        <p:nvSpPr>
          <p:cNvPr id="116" name="Google Shape;116;p25"/>
          <p:cNvSpPr/>
          <p:nvPr/>
        </p:nvSpPr>
        <p:spPr>
          <a:xfrm>
            <a:off x="548640" y="2103120"/>
            <a:ext cx="1737360" cy="3291840"/>
          </a:xfrm>
          <a:prstGeom prst="roundRect">
            <a:avLst>
              <a:gd fmla="val 5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7" name="Google Shape;117;p25"/>
          <p:cNvSpPr/>
          <p:nvPr/>
        </p:nvSpPr>
        <p:spPr>
          <a:xfrm>
            <a:off x="731520" y="2286000"/>
            <a:ext cx="566928" cy="566928"/>
          </a:xfrm>
          <a:prstGeom prst="ellipse">
            <a:avLst/>
          </a:prstGeom>
          <a:solidFill>
            <a:srgbClr val="38AA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8" name="Google Shape;118;p25"/>
          <p:cNvSpPr txBox="1"/>
          <p:nvPr/>
        </p:nvSpPr>
        <p:spPr>
          <a:xfrm>
            <a:off x="731520" y="2286000"/>
            <a:ext cx="566928"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s-CO" sz="2000" u="none" cap="none" strike="noStrike">
                <a:solidFill>
                  <a:srgbClr val="FFFFFF"/>
                </a:solidFill>
                <a:latin typeface="Calibri"/>
                <a:ea typeface="Calibri"/>
                <a:cs typeface="Calibri"/>
                <a:sym typeface="Calibri"/>
              </a:rPr>
              <a:t>1</a:t>
            </a:r>
            <a:endParaRPr/>
          </a:p>
        </p:txBody>
      </p:sp>
      <p:sp>
        <p:nvSpPr>
          <p:cNvPr id="119" name="Google Shape;119;p25"/>
          <p:cNvSpPr txBox="1"/>
          <p:nvPr/>
        </p:nvSpPr>
        <p:spPr>
          <a:xfrm>
            <a:off x="685800" y="3017520"/>
            <a:ext cx="1463039" cy="457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700" u="none" cap="none" strike="noStrike">
                <a:solidFill>
                  <a:srgbClr val="262626"/>
                </a:solidFill>
                <a:latin typeface="Calibri"/>
                <a:ea typeface="Calibri"/>
                <a:cs typeface="Calibri"/>
                <a:sym typeface="Calibri"/>
              </a:rPr>
              <a:t>Contexto</a:t>
            </a:r>
            <a:endParaRPr/>
          </a:p>
        </p:txBody>
      </p:sp>
      <p:sp>
        <p:nvSpPr>
          <p:cNvPr id="120" name="Google Shape;120;p25"/>
          <p:cNvSpPr txBox="1"/>
          <p:nvPr/>
        </p:nvSpPr>
        <p:spPr>
          <a:xfrm>
            <a:off x="685800" y="3474720"/>
            <a:ext cx="1463039" cy="10972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0" i="0" lang="es-CO" sz="1300" u="none" cap="none" strike="noStrike">
                <a:solidFill>
                  <a:srgbClr val="6B6B6B"/>
                </a:solidFill>
                <a:latin typeface="Calibri"/>
                <a:ea typeface="Calibri"/>
                <a:cs typeface="Calibri"/>
                <a:sym typeface="Calibri"/>
              </a:rPr>
              <a:t>Problema, justificación y objetivos</a:t>
            </a:r>
            <a:endParaRPr/>
          </a:p>
        </p:txBody>
      </p:sp>
      <p:sp>
        <p:nvSpPr>
          <p:cNvPr id="121" name="Google Shape;121;p25"/>
          <p:cNvSpPr txBox="1"/>
          <p:nvPr/>
        </p:nvSpPr>
        <p:spPr>
          <a:xfrm>
            <a:off x="685800" y="4617720"/>
            <a:ext cx="1463100" cy="3078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t/>
            </a:r>
            <a:endParaRPr/>
          </a:p>
        </p:txBody>
      </p:sp>
      <p:sp>
        <p:nvSpPr>
          <p:cNvPr id="122" name="Google Shape;122;p25"/>
          <p:cNvSpPr/>
          <p:nvPr/>
        </p:nvSpPr>
        <p:spPr>
          <a:xfrm>
            <a:off x="2395728" y="2103120"/>
            <a:ext cx="1737360" cy="3291840"/>
          </a:xfrm>
          <a:prstGeom prst="roundRect">
            <a:avLst>
              <a:gd fmla="val 5000" name="adj"/>
            </a:avLst>
          </a:prstGeom>
          <a:solidFill>
            <a:srgbClr val="F3F4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3" name="Google Shape;123;p25"/>
          <p:cNvSpPr/>
          <p:nvPr/>
        </p:nvSpPr>
        <p:spPr>
          <a:xfrm>
            <a:off x="2578608" y="2286000"/>
            <a:ext cx="566928" cy="566928"/>
          </a:xfrm>
          <a:prstGeom prst="ellipse">
            <a:avLst/>
          </a:prstGeom>
          <a:solidFill>
            <a:srgbClr val="38AA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4" name="Google Shape;124;p25"/>
          <p:cNvSpPr txBox="1"/>
          <p:nvPr/>
        </p:nvSpPr>
        <p:spPr>
          <a:xfrm>
            <a:off x="2578608" y="2286000"/>
            <a:ext cx="566928"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s-CO" sz="2000" u="none" cap="none" strike="noStrike">
                <a:solidFill>
                  <a:srgbClr val="FFFFFF"/>
                </a:solidFill>
                <a:latin typeface="Calibri"/>
                <a:ea typeface="Calibri"/>
                <a:cs typeface="Calibri"/>
                <a:sym typeface="Calibri"/>
              </a:rPr>
              <a:t>2</a:t>
            </a:r>
            <a:endParaRPr/>
          </a:p>
        </p:txBody>
      </p:sp>
      <p:sp>
        <p:nvSpPr>
          <p:cNvPr id="125" name="Google Shape;125;p25"/>
          <p:cNvSpPr txBox="1"/>
          <p:nvPr/>
        </p:nvSpPr>
        <p:spPr>
          <a:xfrm>
            <a:off x="2532888" y="3017520"/>
            <a:ext cx="1463039" cy="457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700" u="none" cap="none" strike="noStrike">
                <a:solidFill>
                  <a:srgbClr val="262626"/>
                </a:solidFill>
                <a:latin typeface="Calibri"/>
                <a:ea typeface="Calibri"/>
                <a:cs typeface="Calibri"/>
                <a:sym typeface="Calibri"/>
              </a:rPr>
              <a:t>Requisitos</a:t>
            </a:r>
            <a:endParaRPr/>
          </a:p>
        </p:txBody>
      </p:sp>
      <p:sp>
        <p:nvSpPr>
          <p:cNvPr id="126" name="Google Shape;126;p25"/>
          <p:cNvSpPr txBox="1"/>
          <p:nvPr/>
        </p:nvSpPr>
        <p:spPr>
          <a:xfrm>
            <a:off x="2532888" y="3474720"/>
            <a:ext cx="1463039" cy="10972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0" i="0" lang="es-CO" sz="1300" u="none" cap="none" strike="noStrike">
                <a:solidFill>
                  <a:srgbClr val="6B6B6B"/>
                </a:solidFill>
                <a:latin typeface="Calibri"/>
                <a:ea typeface="Calibri"/>
                <a:cs typeface="Calibri"/>
                <a:sym typeface="Calibri"/>
              </a:rPr>
              <a:t>Gestión de requisitos, HU y casos de uso</a:t>
            </a:r>
            <a:endParaRPr/>
          </a:p>
        </p:txBody>
      </p:sp>
      <p:sp>
        <p:nvSpPr>
          <p:cNvPr id="127" name="Google Shape;127;p25"/>
          <p:cNvSpPr txBox="1"/>
          <p:nvPr/>
        </p:nvSpPr>
        <p:spPr>
          <a:xfrm>
            <a:off x="2532888" y="4617720"/>
            <a:ext cx="1463100" cy="3078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t/>
            </a:r>
            <a:endParaRPr/>
          </a:p>
        </p:txBody>
      </p:sp>
      <p:sp>
        <p:nvSpPr>
          <p:cNvPr id="128" name="Google Shape;128;p25"/>
          <p:cNvSpPr/>
          <p:nvPr/>
        </p:nvSpPr>
        <p:spPr>
          <a:xfrm>
            <a:off x="4242816" y="2103120"/>
            <a:ext cx="1737360" cy="3291840"/>
          </a:xfrm>
          <a:prstGeom prst="roundRect">
            <a:avLst>
              <a:gd fmla="val 5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9" name="Google Shape;129;p25"/>
          <p:cNvSpPr/>
          <p:nvPr/>
        </p:nvSpPr>
        <p:spPr>
          <a:xfrm>
            <a:off x="4425696" y="2286000"/>
            <a:ext cx="566928" cy="566928"/>
          </a:xfrm>
          <a:prstGeom prst="ellipse">
            <a:avLst/>
          </a:prstGeom>
          <a:solidFill>
            <a:srgbClr val="38AA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0" name="Google Shape;130;p25"/>
          <p:cNvSpPr txBox="1"/>
          <p:nvPr/>
        </p:nvSpPr>
        <p:spPr>
          <a:xfrm>
            <a:off x="4425696" y="2286000"/>
            <a:ext cx="566928"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s-CO" sz="2000" u="none" cap="none" strike="noStrike">
                <a:solidFill>
                  <a:srgbClr val="FFFFFF"/>
                </a:solidFill>
                <a:latin typeface="Calibri"/>
                <a:ea typeface="Calibri"/>
                <a:cs typeface="Calibri"/>
                <a:sym typeface="Calibri"/>
              </a:rPr>
              <a:t>3</a:t>
            </a:r>
            <a:endParaRPr/>
          </a:p>
        </p:txBody>
      </p:sp>
      <p:sp>
        <p:nvSpPr>
          <p:cNvPr id="131" name="Google Shape;131;p25"/>
          <p:cNvSpPr txBox="1"/>
          <p:nvPr/>
        </p:nvSpPr>
        <p:spPr>
          <a:xfrm>
            <a:off x="4379976" y="3017520"/>
            <a:ext cx="1463039" cy="457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700" u="none" cap="none" strike="noStrike">
                <a:solidFill>
                  <a:srgbClr val="262626"/>
                </a:solidFill>
                <a:latin typeface="Calibri"/>
                <a:ea typeface="Calibri"/>
                <a:cs typeface="Calibri"/>
                <a:sym typeface="Calibri"/>
              </a:rPr>
              <a:t>Arquitectura</a:t>
            </a:r>
            <a:endParaRPr/>
          </a:p>
        </p:txBody>
      </p:sp>
      <p:sp>
        <p:nvSpPr>
          <p:cNvPr id="132" name="Google Shape;132;p25"/>
          <p:cNvSpPr txBox="1"/>
          <p:nvPr/>
        </p:nvSpPr>
        <p:spPr>
          <a:xfrm>
            <a:off x="4379976" y="3474720"/>
            <a:ext cx="1463039" cy="10972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0" i="0" lang="es-CO" sz="1300" u="none" cap="none" strike="noStrike">
                <a:solidFill>
                  <a:srgbClr val="6B6B6B"/>
                </a:solidFill>
                <a:latin typeface="Calibri"/>
                <a:ea typeface="Calibri"/>
                <a:cs typeface="Calibri"/>
                <a:sym typeface="Calibri"/>
              </a:rPr>
              <a:t>Clases, componentes y paquetes</a:t>
            </a:r>
            <a:endParaRPr/>
          </a:p>
        </p:txBody>
      </p:sp>
      <p:sp>
        <p:nvSpPr>
          <p:cNvPr id="133" name="Google Shape;133;p25"/>
          <p:cNvSpPr txBox="1"/>
          <p:nvPr/>
        </p:nvSpPr>
        <p:spPr>
          <a:xfrm>
            <a:off x="4379976" y="4617720"/>
            <a:ext cx="1463100" cy="3078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t/>
            </a:r>
            <a:endParaRPr/>
          </a:p>
        </p:txBody>
      </p:sp>
      <p:sp>
        <p:nvSpPr>
          <p:cNvPr id="134" name="Google Shape;134;p25"/>
          <p:cNvSpPr/>
          <p:nvPr/>
        </p:nvSpPr>
        <p:spPr>
          <a:xfrm>
            <a:off x="6089904" y="2103120"/>
            <a:ext cx="1737360" cy="3291840"/>
          </a:xfrm>
          <a:prstGeom prst="roundRect">
            <a:avLst>
              <a:gd fmla="val 5000" name="adj"/>
            </a:avLst>
          </a:prstGeom>
          <a:solidFill>
            <a:srgbClr val="F3F4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5" name="Google Shape;135;p25"/>
          <p:cNvSpPr/>
          <p:nvPr/>
        </p:nvSpPr>
        <p:spPr>
          <a:xfrm>
            <a:off x="6272784" y="2286000"/>
            <a:ext cx="566928" cy="566928"/>
          </a:xfrm>
          <a:prstGeom prst="ellipse">
            <a:avLst/>
          </a:prstGeom>
          <a:solidFill>
            <a:srgbClr val="38AA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6" name="Google Shape;136;p25"/>
          <p:cNvSpPr txBox="1"/>
          <p:nvPr/>
        </p:nvSpPr>
        <p:spPr>
          <a:xfrm>
            <a:off x="6272784" y="2286000"/>
            <a:ext cx="566928"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s-CO" sz="2000" u="none" cap="none" strike="noStrike">
                <a:solidFill>
                  <a:srgbClr val="FFFFFF"/>
                </a:solidFill>
                <a:latin typeface="Calibri"/>
                <a:ea typeface="Calibri"/>
                <a:cs typeface="Calibri"/>
                <a:sym typeface="Calibri"/>
              </a:rPr>
              <a:t>4</a:t>
            </a:r>
            <a:endParaRPr/>
          </a:p>
        </p:txBody>
      </p:sp>
      <p:sp>
        <p:nvSpPr>
          <p:cNvPr id="137" name="Google Shape;137;p25"/>
          <p:cNvSpPr txBox="1"/>
          <p:nvPr/>
        </p:nvSpPr>
        <p:spPr>
          <a:xfrm>
            <a:off x="6227064" y="3017520"/>
            <a:ext cx="1463039" cy="457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700" u="none" cap="none" strike="noStrike">
                <a:solidFill>
                  <a:srgbClr val="262626"/>
                </a:solidFill>
                <a:latin typeface="Calibri"/>
                <a:ea typeface="Calibri"/>
                <a:cs typeface="Calibri"/>
                <a:sym typeface="Calibri"/>
              </a:rPr>
              <a:t>Base de datos</a:t>
            </a:r>
            <a:endParaRPr/>
          </a:p>
        </p:txBody>
      </p:sp>
      <p:sp>
        <p:nvSpPr>
          <p:cNvPr id="138" name="Google Shape;138;p25"/>
          <p:cNvSpPr txBox="1"/>
          <p:nvPr/>
        </p:nvSpPr>
        <p:spPr>
          <a:xfrm>
            <a:off x="6227064" y="3474720"/>
            <a:ext cx="1463039" cy="10972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0" i="0" lang="es-CO" sz="1300" u="none" cap="none" strike="noStrike">
                <a:solidFill>
                  <a:srgbClr val="6B6B6B"/>
                </a:solidFill>
                <a:latin typeface="Calibri"/>
                <a:ea typeface="Calibri"/>
                <a:cs typeface="Calibri"/>
                <a:sym typeface="Calibri"/>
              </a:rPr>
              <a:t>MER, modelo relacional, SQL y automatización</a:t>
            </a:r>
            <a:endParaRPr/>
          </a:p>
        </p:txBody>
      </p:sp>
      <p:sp>
        <p:nvSpPr>
          <p:cNvPr id="139" name="Google Shape;139;p25"/>
          <p:cNvSpPr/>
          <p:nvPr/>
        </p:nvSpPr>
        <p:spPr>
          <a:xfrm>
            <a:off x="7936992" y="2103120"/>
            <a:ext cx="1737360" cy="3291840"/>
          </a:xfrm>
          <a:prstGeom prst="roundRect">
            <a:avLst>
              <a:gd fmla="val 5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0" name="Google Shape;140;p25"/>
          <p:cNvSpPr/>
          <p:nvPr/>
        </p:nvSpPr>
        <p:spPr>
          <a:xfrm>
            <a:off x="8119871" y="2286000"/>
            <a:ext cx="566928" cy="566928"/>
          </a:xfrm>
          <a:prstGeom prst="ellipse">
            <a:avLst/>
          </a:prstGeom>
          <a:solidFill>
            <a:srgbClr val="38AA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1" name="Google Shape;141;p25"/>
          <p:cNvSpPr txBox="1"/>
          <p:nvPr/>
        </p:nvSpPr>
        <p:spPr>
          <a:xfrm>
            <a:off x="8119871" y="2286000"/>
            <a:ext cx="566928"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s-CO" sz="2000" u="none" cap="none" strike="noStrike">
                <a:solidFill>
                  <a:srgbClr val="FFFFFF"/>
                </a:solidFill>
                <a:latin typeface="Calibri"/>
                <a:ea typeface="Calibri"/>
                <a:cs typeface="Calibri"/>
                <a:sym typeface="Calibri"/>
              </a:rPr>
              <a:t>5</a:t>
            </a:r>
            <a:endParaRPr/>
          </a:p>
        </p:txBody>
      </p:sp>
      <p:sp>
        <p:nvSpPr>
          <p:cNvPr id="142" name="Google Shape;142;p25"/>
          <p:cNvSpPr txBox="1"/>
          <p:nvPr/>
        </p:nvSpPr>
        <p:spPr>
          <a:xfrm>
            <a:off x="8074152" y="3017520"/>
            <a:ext cx="1463039" cy="457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700" u="none" cap="none" strike="noStrike">
                <a:solidFill>
                  <a:srgbClr val="262626"/>
                </a:solidFill>
                <a:latin typeface="Calibri"/>
                <a:ea typeface="Calibri"/>
                <a:cs typeface="Calibri"/>
                <a:sym typeface="Calibri"/>
              </a:rPr>
              <a:t>Front-end</a:t>
            </a:r>
            <a:endParaRPr/>
          </a:p>
        </p:txBody>
      </p:sp>
      <p:sp>
        <p:nvSpPr>
          <p:cNvPr id="143" name="Google Shape;143;p25"/>
          <p:cNvSpPr txBox="1"/>
          <p:nvPr/>
        </p:nvSpPr>
        <p:spPr>
          <a:xfrm>
            <a:off x="8074152" y="3474720"/>
            <a:ext cx="1463039" cy="10972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0" i="0" lang="es-CO" sz="1300" u="none" cap="none" strike="noStrike">
                <a:solidFill>
                  <a:srgbClr val="6B6B6B"/>
                </a:solidFill>
                <a:latin typeface="Calibri"/>
                <a:ea typeface="Calibri"/>
                <a:cs typeface="Calibri"/>
                <a:sym typeface="Calibri"/>
              </a:rPr>
              <a:t>Wireframe y página web funcional</a:t>
            </a:r>
            <a:endParaRPr/>
          </a:p>
        </p:txBody>
      </p:sp>
      <p:sp>
        <p:nvSpPr>
          <p:cNvPr id="144" name="Google Shape;144;p25"/>
          <p:cNvSpPr txBox="1"/>
          <p:nvPr/>
        </p:nvSpPr>
        <p:spPr>
          <a:xfrm>
            <a:off x="8074152" y="4617720"/>
            <a:ext cx="1463100" cy="3078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t/>
            </a:r>
            <a:endParaRPr/>
          </a:p>
        </p:txBody>
      </p:sp>
      <p:sp>
        <p:nvSpPr>
          <p:cNvPr id="145" name="Google Shape;145;p25"/>
          <p:cNvSpPr/>
          <p:nvPr/>
        </p:nvSpPr>
        <p:spPr>
          <a:xfrm>
            <a:off x="9784080" y="2103120"/>
            <a:ext cx="1737360" cy="3291840"/>
          </a:xfrm>
          <a:prstGeom prst="roundRect">
            <a:avLst>
              <a:gd fmla="val 5000" name="adj"/>
            </a:avLst>
          </a:prstGeom>
          <a:solidFill>
            <a:srgbClr val="F3F4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6" name="Google Shape;146;p25"/>
          <p:cNvSpPr/>
          <p:nvPr/>
        </p:nvSpPr>
        <p:spPr>
          <a:xfrm>
            <a:off x="9966959" y="2286000"/>
            <a:ext cx="566928" cy="566928"/>
          </a:xfrm>
          <a:prstGeom prst="ellipse">
            <a:avLst/>
          </a:prstGeom>
          <a:solidFill>
            <a:srgbClr val="38AA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7" name="Google Shape;147;p25"/>
          <p:cNvSpPr txBox="1"/>
          <p:nvPr/>
        </p:nvSpPr>
        <p:spPr>
          <a:xfrm>
            <a:off x="9966959" y="2286000"/>
            <a:ext cx="566928"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s-CO" sz="2000" u="none" cap="none" strike="noStrike">
                <a:solidFill>
                  <a:srgbClr val="FFFFFF"/>
                </a:solidFill>
                <a:latin typeface="Calibri"/>
                <a:ea typeface="Calibri"/>
                <a:cs typeface="Calibri"/>
                <a:sym typeface="Calibri"/>
              </a:rPr>
              <a:t>6</a:t>
            </a:r>
            <a:endParaRPr/>
          </a:p>
        </p:txBody>
      </p:sp>
      <p:sp>
        <p:nvSpPr>
          <p:cNvPr id="148" name="Google Shape;148;p25"/>
          <p:cNvSpPr txBox="1"/>
          <p:nvPr/>
        </p:nvSpPr>
        <p:spPr>
          <a:xfrm>
            <a:off x="9921240" y="3017520"/>
            <a:ext cx="1463039" cy="457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700" u="none" cap="none" strike="noStrike">
                <a:solidFill>
                  <a:srgbClr val="262626"/>
                </a:solidFill>
                <a:latin typeface="Calibri"/>
                <a:ea typeface="Calibri"/>
                <a:cs typeface="Calibri"/>
                <a:sym typeface="Calibri"/>
              </a:rPr>
              <a:t>Cierre</a:t>
            </a:r>
            <a:endParaRPr/>
          </a:p>
        </p:txBody>
      </p:sp>
      <p:sp>
        <p:nvSpPr>
          <p:cNvPr id="149" name="Google Shape;149;p25"/>
          <p:cNvSpPr txBox="1"/>
          <p:nvPr/>
        </p:nvSpPr>
        <p:spPr>
          <a:xfrm>
            <a:off x="9921240" y="3474720"/>
            <a:ext cx="1463039" cy="10972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0" i="0" lang="es-CO" sz="1300" u="none" cap="none" strike="noStrike">
                <a:solidFill>
                  <a:srgbClr val="6B6B6B"/>
                </a:solidFill>
                <a:latin typeface="Calibri"/>
                <a:ea typeface="Calibri"/>
                <a:cs typeface="Calibri"/>
                <a:sym typeface="Calibri"/>
              </a:rPr>
              <a:t>Conclusiones y preguntas</a:t>
            </a:r>
            <a:endParaRPr/>
          </a:p>
        </p:txBody>
      </p:sp>
      <p:sp>
        <p:nvSpPr>
          <p:cNvPr id="150" name="Google Shape;150;p25"/>
          <p:cNvSpPr txBox="1"/>
          <p:nvPr/>
        </p:nvSpPr>
        <p:spPr>
          <a:xfrm>
            <a:off x="9921240" y="4617720"/>
            <a:ext cx="1463100" cy="3078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t/>
            </a:r>
            <a:endParaRPr/>
          </a:p>
        </p:txBody>
      </p:sp>
      <p:sp>
        <p:nvSpPr>
          <p:cNvPr id="151" name="Google Shape;151;p25"/>
          <p:cNvSpPr txBox="1"/>
          <p:nvPr/>
        </p:nvSpPr>
        <p:spPr>
          <a:xfrm>
            <a:off x="548640" y="5623560"/>
            <a:ext cx="10972800" cy="3657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0" i="0" lang="es-CO" sz="1200" u="none" cap="none" strike="noStrike">
                <a:solidFill>
                  <a:srgbClr val="6B6B6B"/>
                </a:solidFill>
                <a:latin typeface="Calibri"/>
                <a:ea typeface="Calibri"/>
                <a:cs typeface="Calibri"/>
                <a:sym typeface="Calibri"/>
              </a:rPr>
              <a:t>min por bloque · total 15:00 (ítem 11 de la lista de chequeo)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Planteamiento del Problema</a:t>
            </a:r>
            <a:endParaRPr/>
          </a:p>
        </p:txBody>
      </p:sp>
      <p:sp>
        <p:nvSpPr>
          <p:cNvPr id="158" name="Google Shape;158;p26"/>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9" name="Google Shape;159;p26"/>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T2 · Contexto · ⏱ </a:t>
            </a:r>
            <a:endParaRPr/>
          </a:p>
        </p:txBody>
      </p:sp>
      <p:sp>
        <p:nvSpPr>
          <p:cNvPr id="160" name="Google Shape;160;p26"/>
          <p:cNvSpPr/>
          <p:nvPr/>
        </p:nvSpPr>
        <p:spPr>
          <a:xfrm>
            <a:off x="548640" y="1874519"/>
            <a:ext cx="6949440" cy="4023360"/>
          </a:xfrm>
          <a:prstGeom prst="roundRect">
            <a:avLst>
              <a:gd fmla="val 3000" name="adj"/>
            </a:avLst>
          </a:prstGeom>
          <a:solidFill>
            <a:srgbClr val="F3F4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1" name="Google Shape;161;p26"/>
          <p:cNvSpPr txBox="1"/>
          <p:nvPr/>
        </p:nvSpPr>
        <p:spPr>
          <a:xfrm>
            <a:off x="822960" y="2057400"/>
            <a:ext cx="6400800" cy="2596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900" u="none" cap="none" strike="noStrike">
                <a:solidFill>
                  <a:srgbClr val="2A7F00"/>
                </a:solidFill>
                <a:latin typeface="Calibri"/>
                <a:ea typeface="Calibri"/>
                <a:cs typeface="Calibri"/>
                <a:sym typeface="Calibri"/>
              </a:rPr>
              <a:t>Situación actual</a:t>
            </a:r>
            <a:endParaRPr b="0" i="0" sz="1800" u="none" cap="none" strike="noStrike">
              <a:solidFill>
                <a:srgbClr val="6B6B6B"/>
              </a:solidFill>
              <a:latin typeface="Calibri"/>
              <a:ea typeface="Calibri"/>
              <a:cs typeface="Calibri"/>
              <a:sym typeface="Calibri"/>
            </a:endParaRPr>
          </a:p>
          <a:p>
            <a:pPr indent="0" lvl="0" marL="0" marR="0" rtl="0" algn="l">
              <a:lnSpc>
                <a:spcPct val="100000"/>
              </a:lnSpc>
              <a:spcBef>
                <a:spcPts val="200"/>
              </a:spcBef>
              <a:spcAft>
                <a:spcPts val="0"/>
              </a:spcAft>
              <a:buNone/>
            </a:pPr>
            <a:r>
              <a:rPr lang="es-CO" sz="1800">
                <a:solidFill>
                  <a:srgbClr val="6B6B6B"/>
                </a:solidFill>
                <a:latin typeface="Calibri"/>
                <a:ea typeface="Calibri"/>
                <a:cs typeface="Calibri"/>
                <a:sym typeface="Calibri"/>
              </a:rPr>
              <a:t>Se basa en fomentar el uso de páginas webs o apps para el aprendizaje, para que los estudiante i/o niños tengan una aprendizaje interactivo con la gamificación</a:t>
            </a:r>
            <a:endParaRPr sz="1800">
              <a:solidFill>
                <a:srgbClr val="6B6B6B"/>
              </a:solidFill>
              <a:latin typeface="Calibri"/>
              <a:ea typeface="Calibri"/>
              <a:cs typeface="Calibri"/>
              <a:sym typeface="Calibri"/>
            </a:endParaRPr>
          </a:p>
          <a:p>
            <a:pPr indent="0" lvl="0" marL="0" marR="0" rtl="0" algn="l">
              <a:lnSpc>
                <a:spcPct val="100000"/>
              </a:lnSpc>
              <a:spcBef>
                <a:spcPts val="1400"/>
              </a:spcBef>
              <a:spcAft>
                <a:spcPts val="0"/>
              </a:spcAft>
              <a:buNone/>
            </a:pPr>
            <a:r>
              <a:rPr b="1" i="0" lang="es-CO" sz="1900" u="none" cap="none" strike="noStrike">
                <a:solidFill>
                  <a:srgbClr val="2A7F00"/>
                </a:solidFill>
                <a:latin typeface="Calibri"/>
                <a:ea typeface="Calibri"/>
                <a:cs typeface="Calibri"/>
                <a:sym typeface="Calibri"/>
              </a:rPr>
              <a:t>Afectados y consecuencias</a:t>
            </a:r>
            <a:endParaRPr b="0" i="0" sz="1800" u="none" cap="none" strike="noStrike">
              <a:solidFill>
                <a:srgbClr val="6B6B6B"/>
              </a:solidFill>
              <a:latin typeface="Calibri"/>
              <a:ea typeface="Calibri"/>
              <a:cs typeface="Calibri"/>
              <a:sym typeface="Calibri"/>
            </a:endParaRPr>
          </a:p>
          <a:p>
            <a:pPr indent="0" lvl="0" marL="0" rtl="0" algn="l">
              <a:spcBef>
                <a:spcPts val="200"/>
              </a:spcBef>
              <a:spcAft>
                <a:spcPts val="0"/>
              </a:spcAft>
              <a:buNone/>
            </a:pPr>
            <a:r>
              <a:rPr lang="es-CO" sz="1800">
                <a:solidFill>
                  <a:srgbClr val="6B6B6B"/>
                </a:solidFill>
                <a:latin typeface="Calibri"/>
                <a:ea typeface="Calibri"/>
                <a:cs typeface="Calibri"/>
                <a:sym typeface="Calibri"/>
              </a:rPr>
              <a:t>Los afectados son; Estudiantes, docentes y acudientes </a:t>
            </a:r>
            <a:endParaRPr sz="1800">
              <a:solidFill>
                <a:srgbClr val="6B6B6B"/>
              </a:solidFill>
              <a:latin typeface="Calibri"/>
              <a:ea typeface="Calibri"/>
              <a:cs typeface="Calibri"/>
              <a:sym typeface="Calibri"/>
            </a:endParaRPr>
          </a:p>
          <a:p>
            <a:pPr indent="0" lvl="0" marL="0" rtl="0" algn="l">
              <a:spcBef>
                <a:spcPts val="200"/>
              </a:spcBef>
              <a:spcAft>
                <a:spcPts val="0"/>
              </a:spcAft>
              <a:buClr>
                <a:schemeClr val="dk1"/>
              </a:buClr>
              <a:buFont typeface="Arial"/>
              <a:buNone/>
            </a:pPr>
            <a:r>
              <a:rPr lang="es-CO" sz="1800">
                <a:solidFill>
                  <a:srgbClr val="6B6B6B"/>
                </a:solidFill>
                <a:latin typeface="Calibri"/>
                <a:ea typeface="Calibri"/>
                <a:cs typeface="Calibri"/>
                <a:sym typeface="Calibri"/>
              </a:rPr>
              <a:t>La educación sigue siendo tradicional y simple esto hace que tengan menos metodos para aprender </a:t>
            </a:r>
            <a:endParaRPr sz="1800">
              <a:solidFill>
                <a:srgbClr val="6B6B6B"/>
              </a:solidFill>
              <a:latin typeface="Calibri"/>
              <a:ea typeface="Calibri"/>
              <a:cs typeface="Calibri"/>
              <a:sym typeface="Calibri"/>
            </a:endParaRPr>
          </a:p>
        </p:txBody>
      </p:sp>
      <p:sp>
        <p:nvSpPr>
          <p:cNvPr id="162" name="Google Shape;162;p26"/>
          <p:cNvSpPr/>
          <p:nvPr/>
        </p:nvSpPr>
        <p:spPr>
          <a:xfrm>
            <a:off x="7772400" y="1874519"/>
            <a:ext cx="3840480" cy="4023360"/>
          </a:xfrm>
          <a:prstGeom prst="roundRect">
            <a:avLst>
              <a:gd fmla="val 5000" name="adj"/>
            </a:avLst>
          </a:prstGeom>
          <a:solidFill>
            <a:srgbClr val="38AA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3" name="Google Shape;163;p26"/>
          <p:cNvSpPr txBox="1"/>
          <p:nvPr/>
        </p:nvSpPr>
        <p:spPr>
          <a:xfrm>
            <a:off x="8046720" y="2148840"/>
            <a:ext cx="3291900" cy="24426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600" u="none" cap="none" strike="noStrike">
                <a:solidFill>
                  <a:srgbClr val="FFFFFF"/>
                </a:solidFill>
                <a:latin typeface="Calibri"/>
                <a:ea typeface="Calibri"/>
                <a:cs typeface="Calibri"/>
                <a:sym typeface="Calibri"/>
              </a:rPr>
              <a:t>Pregunta problema</a:t>
            </a:r>
            <a:endParaRPr b="0" i="1" sz="2000" u="none" cap="none" strike="noStrike">
              <a:solidFill>
                <a:srgbClr val="FFFFFF"/>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s-CO">
                <a:solidFill>
                  <a:schemeClr val="lt1"/>
                </a:solidFill>
              </a:rPr>
              <a:t>En la Institución Educativa Gonzalo Arango, ubicada en Bogotá-Suba, se ha identificado que los estudiantes presentan dificultades para reforzar los contenidos trabajados en clase debido a la falta de herramientas digitales interactivas que complementan el proceso de aprendizaje.</a:t>
            </a:r>
            <a:endParaRPr i="1" sz="20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Justificación</a:t>
            </a:r>
            <a:endParaRPr/>
          </a:p>
        </p:txBody>
      </p:sp>
      <p:sp>
        <p:nvSpPr>
          <p:cNvPr id="170" name="Google Shape;170;p27"/>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1" name="Google Shape;171;p27"/>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T2 · Contexto · ⏱ </a:t>
            </a:r>
            <a:endParaRPr/>
          </a:p>
        </p:txBody>
      </p:sp>
      <p:sp>
        <p:nvSpPr>
          <p:cNvPr id="172" name="Google Shape;172;p27"/>
          <p:cNvSpPr/>
          <p:nvPr/>
        </p:nvSpPr>
        <p:spPr>
          <a:xfrm>
            <a:off x="548640" y="2057400"/>
            <a:ext cx="3520440" cy="3566160"/>
          </a:xfrm>
          <a:prstGeom prst="roundRect">
            <a:avLst>
              <a:gd fmla="val 5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3" name="Google Shape;173;p27"/>
          <p:cNvSpPr/>
          <p:nvPr/>
        </p:nvSpPr>
        <p:spPr>
          <a:xfrm>
            <a:off x="822959" y="2331720"/>
            <a:ext cx="640080" cy="640080"/>
          </a:xfrm>
          <a:prstGeom prst="ellipse">
            <a:avLst/>
          </a:prstGeom>
          <a:solidFill>
            <a:srgbClr val="38AA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4" name="Google Shape;174;p27"/>
          <p:cNvSpPr txBox="1"/>
          <p:nvPr/>
        </p:nvSpPr>
        <p:spPr>
          <a:xfrm>
            <a:off x="822959" y="2331720"/>
            <a:ext cx="64008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s-CO" sz="2200" u="none" cap="none" strike="noStrike">
                <a:solidFill>
                  <a:srgbClr val="FFFFFF"/>
                </a:solidFill>
                <a:latin typeface="Calibri"/>
                <a:ea typeface="Calibri"/>
                <a:cs typeface="Calibri"/>
                <a:sym typeface="Calibri"/>
              </a:rPr>
              <a:t>1</a:t>
            </a:r>
            <a:endParaRPr/>
          </a:p>
        </p:txBody>
      </p:sp>
      <p:sp>
        <p:nvSpPr>
          <p:cNvPr id="175" name="Google Shape;175;p27"/>
          <p:cNvSpPr txBox="1"/>
          <p:nvPr/>
        </p:nvSpPr>
        <p:spPr>
          <a:xfrm>
            <a:off x="822959" y="3154680"/>
            <a:ext cx="3017520" cy="457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2000" u="none" cap="none" strike="noStrike">
                <a:solidFill>
                  <a:srgbClr val="262626"/>
                </a:solidFill>
                <a:latin typeface="Calibri"/>
                <a:ea typeface="Calibri"/>
                <a:cs typeface="Calibri"/>
                <a:sym typeface="Calibri"/>
              </a:rPr>
              <a:t>Beneficio</a:t>
            </a:r>
            <a:endParaRPr/>
          </a:p>
        </p:txBody>
      </p:sp>
      <p:sp>
        <p:nvSpPr>
          <p:cNvPr id="176" name="Google Shape;176;p27"/>
          <p:cNvSpPr txBox="1"/>
          <p:nvPr/>
        </p:nvSpPr>
        <p:spPr>
          <a:xfrm>
            <a:off x="822950" y="3703325"/>
            <a:ext cx="3017400" cy="1819200"/>
          </a:xfrm>
          <a:prstGeom prst="rect">
            <a:avLst/>
          </a:prstGeom>
          <a:noFill/>
          <a:ln>
            <a:noFill/>
          </a:ln>
        </p:spPr>
        <p:txBody>
          <a:bodyPr anchorCtr="0" anchor="t" bIns="45700" lIns="45700" spcFirstLastPara="1" rIns="45700" wrap="square" tIns="45700">
            <a:spAutoFit/>
          </a:bodyPr>
          <a:lstStyle/>
          <a:p>
            <a:pPr indent="0" lvl="0" marL="0" rtl="0" algn="l">
              <a:lnSpc>
                <a:spcPct val="115000"/>
              </a:lnSpc>
              <a:spcBef>
                <a:spcPts val="1200"/>
              </a:spcBef>
              <a:spcAft>
                <a:spcPts val="0"/>
              </a:spcAft>
              <a:buSzPts val="1100"/>
              <a:buNone/>
            </a:pPr>
            <a:r>
              <a:rPr lang="es-CO" sz="1100">
                <a:solidFill>
                  <a:schemeClr val="dk1"/>
                </a:solidFill>
              </a:rPr>
              <a:t>Asimismo, los docentes contarán con información sobre el desempeño y avance de los estudiantes a través de los resultados obtenidos en las diferentes actividades, facilitando el acompañamiento de su proceso formativo. De igual manera, los padres de familia podrán realizar un seguimiento más constante del progreso de sus hijos y participar activamente en su proceso educativo.</a:t>
            </a:r>
            <a:endParaRPr sz="1100">
              <a:solidFill>
                <a:srgbClr val="6B6B6B"/>
              </a:solidFill>
              <a:latin typeface="Calibri"/>
              <a:ea typeface="Calibri"/>
              <a:cs typeface="Calibri"/>
              <a:sym typeface="Calibri"/>
            </a:endParaRPr>
          </a:p>
        </p:txBody>
      </p:sp>
      <p:sp>
        <p:nvSpPr>
          <p:cNvPr id="177" name="Google Shape;177;p27"/>
          <p:cNvSpPr/>
          <p:nvPr/>
        </p:nvSpPr>
        <p:spPr>
          <a:xfrm>
            <a:off x="4297679" y="2057400"/>
            <a:ext cx="3520440" cy="3566160"/>
          </a:xfrm>
          <a:prstGeom prst="roundRect">
            <a:avLst>
              <a:gd fmla="val 5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8" name="Google Shape;178;p27"/>
          <p:cNvSpPr/>
          <p:nvPr/>
        </p:nvSpPr>
        <p:spPr>
          <a:xfrm>
            <a:off x="4571999" y="2331720"/>
            <a:ext cx="640080" cy="640080"/>
          </a:xfrm>
          <a:prstGeom prst="ellipse">
            <a:avLst/>
          </a:prstGeom>
          <a:solidFill>
            <a:srgbClr val="38AA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9" name="Google Shape;179;p27"/>
          <p:cNvSpPr txBox="1"/>
          <p:nvPr/>
        </p:nvSpPr>
        <p:spPr>
          <a:xfrm>
            <a:off x="4571999" y="2331720"/>
            <a:ext cx="64008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s-CO" sz="2200" u="none" cap="none" strike="noStrike">
                <a:solidFill>
                  <a:srgbClr val="FFFFFF"/>
                </a:solidFill>
                <a:latin typeface="Calibri"/>
                <a:ea typeface="Calibri"/>
                <a:cs typeface="Calibri"/>
                <a:sym typeface="Calibri"/>
              </a:rPr>
              <a:t>2</a:t>
            </a:r>
            <a:endParaRPr/>
          </a:p>
        </p:txBody>
      </p:sp>
      <p:sp>
        <p:nvSpPr>
          <p:cNvPr id="180" name="Google Shape;180;p27"/>
          <p:cNvSpPr txBox="1"/>
          <p:nvPr/>
        </p:nvSpPr>
        <p:spPr>
          <a:xfrm>
            <a:off x="4571999" y="3154680"/>
            <a:ext cx="3017520" cy="457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2000" u="none" cap="none" strike="noStrike">
                <a:solidFill>
                  <a:srgbClr val="262626"/>
                </a:solidFill>
                <a:latin typeface="Calibri"/>
                <a:ea typeface="Calibri"/>
                <a:cs typeface="Calibri"/>
                <a:sym typeface="Calibri"/>
              </a:rPr>
              <a:t>Beneficiarios</a:t>
            </a:r>
            <a:endParaRPr/>
          </a:p>
        </p:txBody>
      </p:sp>
      <p:sp>
        <p:nvSpPr>
          <p:cNvPr id="181" name="Google Shape;181;p27"/>
          <p:cNvSpPr txBox="1"/>
          <p:nvPr/>
        </p:nvSpPr>
        <p:spPr>
          <a:xfrm>
            <a:off x="4572000" y="3703324"/>
            <a:ext cx="3017400" cy="14316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lang="es-CO" sz="1200">
                <a:solidFill>
                  <a:schemeClr val="dk1"/>
                </a:solidFill>
              </a:rPr>
              <a:t>De esta manera, el proyecto beneficiará a estudiantes, docentes y acudientes al proporcionar herramientas que apoyen el aprendizaje, el seguimiento del desempeño y la participación en el entorno educativo.</a:t>
            </a:r>
            <a:endParaRPr sz="1200">
              <a:solidFill>
                <a:schemeClr val="dk1"/>
              </a:solidFill>
            </a:endParaRPr>
          </a:p>
          <a:p>
            <a:pPr indent="0" lvl="0" marL="0" marR="0" rtl="0" algn="l">
              <a:lnSpc>
                <a:spcPct val="100000"/>
              </a:lnSpc>
              <a:spcBef>
                <a:spcPts val="0"/>
              </a:spcBef>
              <a:spcAft>
                <a:spcPts val="0"/>
              </a:spcAft>
              <a:buNone/>
            </a:pPr>
            <a:r>
              <a:t/>
            </a:r>
            <a:endParaRPr sz="1500">
              <a:solidFill>
                <a:srgbClr val="6B6B6B"/>
              </a:solidFill>
              <a:latin typeface="Calibri"/>
              <a:ea typeface="Calibri"/>
              <a:cs typeface="Calibri"/>
              <a:sym typeface="Calibri"/>
            </a:endParaRPr>
          </a:p>
        </p:txBody>
      </p:sp>
      <p:sp>
        <p:nvSpPr>
          <p:cNvPr id="182" name="Google Shape;182;p27"/>
          <p:cNvSpPr/>
          <p:nvPr/>
        </p:nvSpPr>
        <p:spPr>
          <a:xfrm>
            <a:off x="8046719" y="2057400"/>
            <a:ext cx="3520500" cy="3566100"/>
          </a:xfrm>
          <a:prstGeom prst="roundRect">
            <a:avLst>
              <a:gd fmla="val 5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3" name="Google Shape;183;p27"/>
          <p:cNvSpPr/>
          <p:nvPr/>
        </p:nvSpPr>
        <p:spPr>
          <a:xfrm>
            <a:off x="8321040" y="2331720"/>
            <a:ext cx="640080" cy="640080"/>
          </a:xfrm>
          <a:prstGeom prst="ellipse">
            <a:avLst/>
          </a:prstGeom>
          <a:solidFill>
            <a:srgbClr val="38AA0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4" name="Google Shape;184;p27"/>
          <p:cNvSpPr txBox="1"/>
          <p:nvPr/>
        </p:nvSpPr>
        <p:spPr>
          <a:xfrm>
            <a:off x="8321040" y="2331720"/>
            <a:ext cx="64008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s-CO" sz="2200" u="none" cap="none" strike="noStrike">
                <a:solidFill>
                  <a:srgbClr val="FFFFFF"/>
                </a:solidFill>
                <a:latin typeface="Calibri"/>
                <a:ea typeface="Calibri"/>
                <a:cs typeface="Calibri"/>
                <a:sym typeface="Calibri"/>
              </a:rPr>
              <a:t>3</a:t>
            </a:r>
            <a:endParaRPr/>
          </a:p>
        </p:txBody>
      </p:sp>
      <p:sp>
        <p:nvSpPr>
          <p:cNvPr id="185" name="Google Shape;185;p27"/>
          <p:cNvSpPr txBox="1"/>
          <p:nvPr/>
        </p:nvSpPr>
        <p:spPr>
          <a:xfrm>
            <a:off x="8321040" y="3154680"/>
            <a:ext cx="3017520" cy="4572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2000" u="none" cap="none" strike="noStrike">
                <a:solidFill>
                  <a:srgbClr val="262626"/>
                </a:solidFill>
                <a:latin typeface="Calibri"/>
                <a:ea typeface="Calibri"/>
                <a:cs typeface="Calibri"/>
                <a:sym typeface="Calibri"/>
              </a:rPr>
              <a:t>Pertinencia</a:t>
            </a:r>
            <a:endParaRPr/>
          </a:p>
        </p:txBody>
      </p:sp>
      <p:sp>
        <p:nvSpPr>
          <p:cNvPr id="186" name="Google Shape;186;p27"/>
          <p:cNvSpPr txBox="1"/>
          <p:nvPr/>
        </p:nvSpPr>
        <p:spPr>
          <a:xfrm>
            <a:off x="8321040" y="3533820"/>
            <a:ext cx="3017400" cy="18933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lang="es-CO" sz="1300">
                <a:solidFill>
                  <a:schemeClr val="dk1"/>
                </a:solidFill>
                <a:latin typeface="Calibri"/>
                <a:ea typeface="Calibri"/>
                <a:cs typeface="Calibri"/>
                <a:sym typeface="Calibri"/>
              </a:rPr>
              <a:t>Una solución web permite complementar las estrategias de enseñanza en el aula mediante herramientas digitales accesibles e interactivas que fomentan la participación y el aprendizaje. Su implementación es importante ahora para responder a las necesidades educativas actuales y aprovechar la tecnología para enriquecer las actividades académicas</a:t>
            </a:r>
            <a:endParaRPr sz="13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Objetivos</a:t>
            </a:r>
            <a:endParaRPr/>
          </a:p>
        </p:txBody>
      </p:sp>
      <p:sp>
        <p:nvSpPr>
          <p:cNvPr id="193" name="Google Shape;193;p28"/>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4" name="Google Shape;194;p28"/>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T2 · Contexto · ⏱ </a:t>
            </a:r>
            <a:endParaRPr/>
          </a:p>
        </p:txBody>
      </p:sp>
      <p:sp>
        <p:nvSpPr>
          <p:cNvPr id="195" name="Google Shape;195;p28"/>
          <p:cNvSpPr/>
          <p:nvPr/>
        </p:nvSpPr>
        <p:spPr>
          <a:xfrm>
            <a:off x="548640" y="1874519"/>
            <a:ext cx="4754880" cy="4023360"/>
          </a:xfrm>
          <a:prstGeom prst="roundRect">
            <a:avLst>
              <a:gd fmla="val 5000" name="adj"/>
            </a:avLst>
          </a:prstGeom>
          <a:solidFill>
            <a:srgbClr val="38AA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6" name="Google Shape;196;p28"/>
          <p:cNvSpPr txBox="1"/>
          <p:nvPr/>
        </p:nvSpPr>
        <p:spPr>
          <a:xfrm>
            <a:off x="822960" y="2148840"/>
            <a:ext cx="4206300" cy="25551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800" u="none" cap="none" strike="noStrike">
                <a:solidFill>
                  <a:srgbClr val="FFFFFF"/>
                </a:solidFill>
                <a:latin typeface="Calibri"/>
                <a:ea typeface="Calibri"/>
                <a:cs typeface="Calibri"/>
                <a:sym typeface="Calibri"/>
              </a:rPr>
              <a:t>Objetivo general</a:t>
            </a:r>
            <a:endParaRPr/>
          </a:p>
          <a:p>
            <a:pPr indent="0" lvl="0" marL="0" rtl="0" algn="just">
              <a:spcBef>
                <a:spcPts val="0"/>
              </a:spcBef>
              <a:spcAft>
                <a:spcPts val="0"/>
              </a:spcAft>
              <a:buSzPts val="1100"/>
              <a:buNone/>
            </a:pPr>
            <a:r>
              <a:t/>
            </a:r>
            <a:endParaRPr>
              <a:solidFill>
                <a:schemeClr val="dk1"/>
              </a:solidFill>
            </a:endParaRPr>
          </a:p>
          <a:p>
            <a:pPr indent="0" lvl="0" marL="0" rtl="0" algn="just">
              <a:spcBef>
                <a:spcPts val="0"/>
              </a:spcBef>
              <a:spcAft>
                <a:spcPts val="0"/>
              </a:spcAft>
              <a:buClr>
                <a:schemeClr val="dk1"/>
              </a:buClr>
              <a:buSzPts val="1100"/>
              <a:buFont typeface="Arial"/>
              <a:buNone/>
            </a:pPr>
            <a:r>
              <a:rPr lang="es-CO" sz="1600">
                <a:solidFill>
                  <a:schemeClr val="dk1"/>
                </a:solidFill>
              </a:rPr>
              <a:t>Diseñar e implementar un sistema web educativo para estudiantes </a:t>
            </a:r>
            <a:r>
              <a:rPr lang="es-CO" sz="1600">
                <a:solidFill>
                  <a:schemeClr val="dk1"/>
                </a:solidFill>
              </a:rPr>
              <a:t>de la Institución Educativa Gonzalo Arango</a:t>
            </a:r>
            <a:r>
              <a:rPr lang="es-CO" sz="1600">
                <a:solidFill>
                  <a:schemeClr val="dk1"/>
                </a:solidFill>
              </a:rPr>
              <a:t>, mediante el uso de estrategias de gamificación que apoye el proceso de aprendizaje de estudiantes mediante contenidos interactivos, actividades educativas y herramientas de seguimiento del progreso. </a:t>
            </a:r>
            <a:endParaRPr sz="1600"/>
          </a:p>
        </p:txBody>
      </p:sp>
      <p:sp>
        <p:nvSpPr>
          <p:cNvPr id="197" name="Google Shape;197;p28"/>
          <p:cNvSpPr/>
          <p:nvPr/>
        </p:nvSpPr>
        <p:spPr>
          <a:xfrm>
            <a:off x="5577840" y="1874519"/>
            <a:ext cx="6035040" cy="4023360"/>
          </a:xfrm>
          <a:prstGeom prst="roundRect">
            <a:avLst>
              <a:gd fmla="val 4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8" name="Google Shape;198;p28"/>
          <p:cNvSpPr txBox="1"/>
          <p:nvPr/>
        </p:nvSpPr>
        <p:spPr>
          <a:xfrm>
            <a:off x="5806440" y="2039112"/>
            <a:ext cx="5577840" cy="4114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Objetivos específicos</a:t>
            </a:r>
            <a:endParaRPr/>
          </a:p>
        </p:txBody>
      </p:sp>
      <p:sp>
        <p:nvSpPr>
          <p:cNvPr id="199" name="Google Shape;199;p28"/>
          <p:cNvSpPr txBox="1"/>
          <p:nvPr/>
        </p:nvSpPr>
        <p:spPr>
          <a:xfrm>
            <a:off x="5806440" y="2514600"/>
            <a:ext cx="5577900" cy="31245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lang="es-CO" sz="1000">
                <a:solidFill>
                  <a:schemeClr val="dk1"/>
                </a:solidFill>
              </a:rPr>
              <a:t> </a:t>
            </a:r>
            <a:r>
              <a:rPr lang="es-CO">
                <a:solidFill>
                  <a:schemeClr val="dk1"/>
                </a:solidFill>
              </a:rPr>
              <a:t>1 .Gestionar contenidos educativos organizados por niveles de dificultad para facilitar el acceso a materiales de aprendizaje adecuados para los estudiantes.</a:t>
            </a:r>
            <a:endParaRPr>
              <a:solidFill>
                <a:schemeClr val="dk1"/>
              </a:solidFill>
            </a:endParaRPr>
          </a:p>
          <a:p>
            <a:pPr indent="0" lvl="0" marL="0" marR="0" rtl="0" algn="l">
              <a:lnSpc>
                <a:spcPct val="100000"/>
              </a:lnSpc>
              <a:spcBef>
                <a:spcPts val="0"/>
              </a:spcBef>
              <a:spcAft>
                <a:spcPts val="0"/>
              </a:spcAft>
              <a:buNone/>
            </a:pPr>
            <a:r>
              <a:rPr lang="es-CO">
                <a:solidFill>
                  <a:schemeClr val="dk1"/>
                </a:solidFill>
              </a:rPr>
              <a:t>2. Desarrollar actividades y juegos educativos que permitan reforzar los contenidos académicos mediante retos, cuestionarios y sistemas de puntajes.</a:t>
            </a:r>
            <a:endParaRPr>
              <a:solidFill>
                <a:schemeClr val="dk1"/>
              </a:solidFill>
            </a:endParaRPr>
          </a:p>
          <a:p>
            <a:pPr indent="0" lvl="0" marL="0" marR="0" rtl="0" algn="l">
              <a:lnSpc>
                <a:spcPct val="100000"/>
              </a:lnSpc>
              <a:spcBef>
                <a:spcPts val="0"/>
              </a:spcBef>
              <a:spcAft>
                <a:spcPts val="0"/>
              </a:spcAft>
              <a:buNone/>
            </a:pPr>
            <a:r>
              <a:rPr lang="es-CO">
                <a:solidFill>
                  <a:schemeClr val="dk1"/>
                </a:solidFill>
              </a:rPr>
              <a:t>3. Realizar el seguimiento del progreso de los estudiantes mediante el registro de puntajes, niveles completados y resultados obtenidos en las actividades.</a:t>
            </a:r>
            <a:endParaRPr>
              <a:solidFill>
                <a:schemeClr val="dk1"/>
              </a:solidFill>
            </a:endParaRPr>
          </a:p>
          <a:p>
            <a:pPr indent="0" lvl="0" marL="0" marR="0" rtl="0" algn="l">
              <a:lnSpc>
                <a:spcPct val="100000"/>
              </a:lnSpc>
              <a:spcBef>
                <a:spcPts val="0"/>
              </a:spcBef>
              <a:spcAft>
                <a:spcPts val="0"/>
              </a:spcAft>
              <a:buNone/>
            </a:pPr>
            <a:r>
              <a:rPr lang="es-CO">
                <a:solidFill>
                  <a:schemeClr val="dk1"/>
                </a:solidFill>
              </a:rPr>
              <a:t>4. Administrar los contenidos y recursos de la plataforma para garantizar el correcto funcionamiento del sistema.</a:t>
            </a:r>
            <a:endParaRPr>
              <a:solidFill>
                <a:schemeClr val="dk1"/>
              </a:solidFill>
            </a:endParaRPr>
          </a:p>
          <a:p>
            <a:pPr indent="0" lvl="0" marL="0" marR="0" rtl="0" algn="l">
              <a:lnSpc>
                <a:spcPct val="100000"/>
              </a:lnSpc>
              <a:spcBef>
                <a:spcPts val="0"/>
              </a:spcBef>
              <a:spcAft>
                <a:spcPts val="0"/>
              </a:spcAft>
              <a:buNone/>
            </a:pPr>
            <a:r>
              <a:rPr lang="es-CO">
                <a:solidFill>
                  <a:schemeClr val="dk1"/>
                </a:solidFill>
              </a:rPr>
              <a:t>5. Gestionar notificaciones y recordatorios relacionados con actividades, avances y participación de los estudiantes.</a:t>
            </a:r>
            <a:endParaRPr>
              <a:solidFill>
                <a:schemeClr val="dk1"/>
              </a:solidFill>
            </a:endParaRPr>
          </a:p>
          <a:p>
            <a:pPr indent="0" lvl="0" marL="457200" marR="0" rtl="0" algn="l">
              <a:lnSpc>
                <a:spcPct val="100000"/>
              </a:lnSpc>
              <a:spcBef>
                <a:spcPts val="0"/>
              </a:spcBef>
              <a:spcAft>
                <a:spcPts val="0"/>
              </a:spcAft>
              <a:buNone/>
            </a:pPr>
            <a:r>
              <a:t/>
            </a:r>
            <a:endParaRPr sz="1500">
              <a:solidFill>
                <a:srgbClr val="26262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9"/>
          <p:cNvSpPr txBox="1"/>
          <p:nvPr/>
        </p:nvSpPr>
        <p:spPr>
          <a:xfrm>
            <a:off x="1737360" y="2331720"/>
            <a:ext cx="8686800" cy="82296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4000" u="none" cap="none" strike="noStrike">
                <a:solidFill>
                  <a:srgbClr val="262626"/>
                </a:solidFill>
                <a:latin typeface="Calibri"/>
                <a:ea typeface="Calibri"/>
                <a:cs typeface="Calibri"/>
                <a:sym typeface="Calibri"/>
              </a:rPr>
              <a:t>Análisis y Requisitos</a:t>
            </a:r>
            <a:endParaRPr/>
          </a:p>
        </p:txBody>
      </p:sp>
      <p:cxnSp>
        <p:nvCxnSpPr>
          <p:cNvPr id="206" name="Google Shape;206;p29"/>
          <p:cNvCxnSpPr/>
          <p:nvPr/>
        </p:nvCxnSpPr>
        <p:spPr>
          <a:xfrm>
            <a:off x="5230368" y="3310128"/>
            <a:ext cx="1737360" cy="0"/>
          </a:xfrm>
          <a:prstGeom prst="straightConnector1">
            <a:avLst/>
          </a:prstGeom>
          <a:noFill/>
          <a:ln cap="flat" cmpd="sng" w="19050">
            <a:solidFill>
              <a:srgbClr val="38AA00"/>
            </a:solidFill>
            <a:prstDash val="solid"/>
            <a:round/>
            <a:headEnd len="sm" w="sm" type="none"/>
            <a:tailEnd len="sm" w="sm" type="none"/>
          </a:ln>
          <a:effectLst>
            <a:outerShdw blurRad="40000" rotWithShape="0" dir="5400000" dist="20000">
              <a:srgbClr val="000000">
                <a:alpha val="38039"/>
              </a:srgbClr>
            </a:outerShdw>
          </a:effectLst>
        </p:spPr>
      </p:cxnSp>
      <p:sp>
        <p:nvSpPr>
          <p:cNvPr id="207" name="Google Shape;207;p29"/>
          <p:cNvSpPr txBox="1"/>
          <p:nvPr/>
        </p:nvSpPr>
        <p:spPr>
          <a:xfrm>
            <a:off x="2194560" y="3474720"/>
            <a:ext cx="7772400" cy="54864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None/>
            </a:pPr>
            <a:r>
              <a:rPr b="0" i="0" lang="es-CO" sz="1600" u="none" cap="none" strike="noStrike">
                <a:solidFill>
                  <a:srgbClr val="6B6B6B"/>
                </a:solidFill>
                <a:latin typeface="Calibri"/>
                <a:ea typeface="Calibri"/>
                <a:cs typeface="Calibri"/>
                <a:sym typeface="Calibri"/>
              </a:rPr>
              <a:t>Trimestre 2 · Ingeniería del Software · ítems 1–3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Gestión de Requisitos</a:t>
            </a:r>
            <a:endParaRPr/>
          </a:p>
        </p:txBody>
      </p:sp>
      <p:sp>
        <p:nvSpPr>
          <p:cNvPr id="214" name="Google Shape;214;p30"/>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5" name="Google Shape;215;p30"/>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T2 · Ítem 1 · ⏱</a:t>
            </a:r>
            <a:endParaRPr/>
          </a:p>
        </p:txBody>
      </p:sp>
      <p:sp>
        <p:nvSpPr>
          <p:cNvPr id="216" name="Google Shape;216;p30"/>
          <p:cNvSpPr txBox="1"/>
          <p:nvPr/>
        </p:nvSpPr>
        <p:spPr>
          <a:xfrm>
            <a:off x="548640" y="5166360"/>
            <a:ext cx="10972800" cy="9543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0" i="0" lang="es-CO" sz="1400" u="none" cap="none" strike="noStrike">
                <a:solidFill>
                  <a:srgbClr val="6B6B6B"/>
                </a:solidFill>
                <a:latin typeface="Calibri"/>
                <a:ea typeface="Calibri"/>
                <a:cs typeface="Calibri"/>
                <a:sym typeface="Calibri"/>
              </a:rPr>
              <a:t>Evidencia</a:t>
            </a:r>
            <a:r>
              <a:rPr lang="es-CO">
                <a:solidFill>
                  <a:srgbClr val="6B6B6B"/>
                </a:solidFill>
                <a:latin typeface="Calibri"/>
                <a:ea typeface="Calibri"/>
                <a:cs typeface="Calibri"/>
                <a:sym typeface="Calibri"/>
              </a:rPr>
              <a:t>:</a:t>
            </a:r>
            <a:endParaRPr>
              <a:solidFill>
                <a:srgbClr val="6B6B6B"/>
              </a:solidFill>
              <a:latin typeface="Calibri"/>
              <a:ea typeface="Calibri"/>
              <a:cs typeface="Calibri"/>
              <a:sym typeface="Calibri"/>
            </a:endParaRPr>
          </a:p>
          <a:p>
            <a:pPr indent="0" lvl="0" marL="0" marR="0" rtl="0" algn="l">
              <a:lnSpc>
                <a:spcPct val="100000"/>
              </a:lnSpc>
              <a:spcBef>
                <a:spcPts val="0"/>
              </a:spcBef>
              <a:spcAft>
                <a:spcPts val="0"/>
              </a:spcAft>
              <a:buNone/>
            </a:pPr>
            <a:r>
              <a:rPr lang="es-CO" u="sng">
                <a:solidFill>
                  <a:schemeClr val="hlink"/>
                </a:solidFill>
                <a:latin typeface="Calibri"/>
                <a:ea typeface="Calibri"/>
                <a:cs typeface="Calibri"/>
                <a:sym typeface="Calibri"/>
                <a:hlinkClick r:id="rId3"/>
              </a:rPr>
              <a:t>https://docs.google.com/spreadsheets/d/1qS8WGKN3A7ODN-lwwHM8_cmSKTh_IIy1/edit?usp=drive_link&amp;ouid=111750755644195650833&amp;rtpof=true&amp;sd</a:t>
            </a:r>
            <a:endParaRPr/>
          </a:p>
          <a:p>
            <a:pPr indent="0" lvl="0" marL="0" marR="0" rtl="0" algn="l">
              <a:lnSpc>
                <a:spcPct val="100000"/>
              </a:lnSpc>
              <a:spcBef>
                <a:spcPts val="0"/>
              </a:spcBef>
              <a:spcAft>
                <a:spcPts val="0"/>
              </a:spcAft>
              <a:buNone/>
            </a:pPr>
            <a:r>
              <a:t/>
            </a:r>
            <a:endParaRPr u="sng">
              <a:solidFill>
                <a:schemeClr val="hlink"/>
              </a:solidFill>
              <a:latin typeface="Calibri"/>
              <a:ea typeface="Calibri"/>
              <a:cs typeface="Calibri"/>
              <a:sym typeface="Calibri"/>
            </a:endParaRPr>
          </a:p>
        </p:txBody>
      </p:sp>
      <p:pic>
        <p:nvPicPr>
          <p:cNvPr id="217" name="Google Shape;217;p30"/>
          <p:cNvPicPr preferRelativeResize="0"/>
          <p:nvPr/>
        </p:nvPicPr>
        <p:blipFill rotWithShape="1">
          <a:blip r:embed="rId4">
            <a:alphaModFix/>
          </a:blip>
          <a:srcRect b="69135" l="0" r="0" t="4390"/>
          <a:stretch/>
        </p:blipFill>
        <p:spPr>
          <a:xfrm>
            <a:off x="404000" y="1635675"/>
            <a:ext cx="11117450" cy="31302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Historias de Usuario</a:t>
            </a:r>
            <a:endParaRPr/>
          </a:p>
        </p:txBody>
      </p:sp>
      <p:sp>
        <p:nvSpPr>
          <p:cNvPr id="224" name="Google Shape;224;p31"/>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5" name="Google Shape;225;p31"/>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T2 · Ítem 2 · ⏱ </a:t>
            </a:r>
            <a:endParaRPr/>
          </a:p>
        </p:txBody>
      </p:sp>
      <p:pic>
        <p:nvPicPr>
          <p:cNvPr id="226" name="Google Shape;226;p31"/>
          <p:cNvPicPr preferRelativeResize="0"/>
          <p:nvPr/>
        </p:nvPicPr>
        <p:blipFill>
          <a:blip r:embed="rId3">
            <a:alphaModFix/>
          </a:blip>
          <a:stretch>
            <a:fillRect/>
          </a:stretch>
        </p:blipFill>
        <p:spPr>
          <a:xfrm>
            <a:off x="600075" y="1816550"/>
            <a:ext cx="10558300" cy="3092225"/>
          </a:xfrm>
          <a:prstGeom prst="rect">
            <a:avLst/>
          </a:prstGeom>
          <a:noFill/>
          <a:ln>
            <a:noFill/>
          </a:ln>
        </p:spPr>
      </p:pic>
      <p:sp>
        <p:nvSpPr>
          <p:cNvPr id="227" name="Google Shape;227;p31"/>
          <p:cNvSpPr txBox="1"/>
          <p:nvPr/>
        </p:nvSpPr>
        <p:spPr>
          <a:xfrm>
            <a:off x="1306300" y="4807025"/>
            <a:ext cx="6490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O">
                <a:solidFill>
                  <a:srgbClr val="6B6B6B"/>
                </a:solidFill>
                <a:latin typeface="Calibri"/>
                <a:ea typeface="Calibri"/>
                <a:cs typeface="Calibri"/>
                <a:sym typeface="Calibri"/>
              </a:rPr>
              <a:t>Evidencia: </a:t>
            </a:r>
            <a:r>
              <a:rPr lang="es-CO" u="sng">
                <a:solidFill>
                  <a:schemeClr val="hlink"/>
                </a:solidFill>
                <a:latin typeface="Calibri"/>
                <a:ea typeface="Calibri"/>
                <a:cs typeface="Calibri"/>
                <a:sym typeface="Calibri"/>
                <a:hlinkClick r:id="rId4"/>
              </a:rPr>
              <a:t>https://docs.google.com/spreadsheets/d/1E4ZyGB1hiCV1n2uwK-130OsTwEKP9-zM/edit?usp=drive_link&amp;ouid=111750755644195650833&amp;rtpof=true&amp;sd</a:t>
            </a:r>
            <a:endParaRPr>
              <a:solidFill>
                <a:srgbClr val="6B6B6B"/>
              </a:solidFill>
              <a:latin typeface="Calibri"/>
              <a:ea typeface="Calibri"/>
              <a:cs typeface="Calibri"/>
              <a:sym typeface="Calibri"/>
            </a:endParaRPr>
          </a:p>
          <a:p>
            <a:pPr indent="0" lvl="0" marL="0" rtl="0" algn="l">
              <a:spcBef>
                <a:spcPts val="0"/>
              </a:spcBef>
              <a:spcAft>
                <a:spcPts val="0"/>
              </a:spcAft>
              <a:buNone/>
            </a:pPr>
            <a:r>
              <a:t/>
            </a:r>
            <a:endParaRPr>
              <a:solidFill>
                <a:srgbClr val="6B6B6B"/>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Casos de Uso</a:t>
            </a:r>
            <a:endParaRPr/>
          </a:p>
        </p:txBody>
      </p:sp>
      <p:sp>
        <p:nvSpPr>
          <p:cNvPr id="234" name="Google Shape;234;p32"/>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5" name="Google Shape;235;p32"/>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T2 · Ítem 3 · ⏱ </a:t>
            </a:r>
            <a:endParaRPr/>
          </a:p>
        </p:txBody>
      </p:sp>
      <p:sp>
        <p:nvSpPr>
          <p:cNvPr id="236" name="Google Shape;236;p32"/>
          <p:cNvSpPr/>
          <p:nvPr/>
        </p:nvSpPr>
        <p:spPr>
          <a:xfrm>
            <a:off x="548640" y="1874519"/>
            <a:ext cx="630936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7" name="Google Shape;237;p32"/>
          <p:cNvSpPr txBox="1"/>
          <p:nvPr/>
        </p:nvSpPr>
        <p:spPr>
          <a:xfrm>
            <a:off x="822959" y="3429000"/>
            <a:ext cx="576072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Diagrama de casos de uso del proceso principal</a:t>
            </a:r>
            <a:endParaRPr/>
          </a:p>
        </p:txBody>
      </p:sp>
      <p:sp>
        <p:nvSpPr>
          <p:cNvPr id="238" name="Google Shape;238;p32"/>
          <p:cNvSpPr/>
          <p:nvPr/>
        </p:nvSpPr>
        <p:spPr>
          <a:xfrm>
            <a:off x="7132320" y="1588769"/>
            <a:ext cx="4480500" cy="4114800"/>
          </a:xfrm>
          <a:prstGeom prst="roundRect">
            <a:avLst>
              <a:gd fmla="val 4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9" name="Google Shape;239;p32"/>
          <p:cNvSpPr txBox="1"/>
          <p:nvPr/>
        </p:nvSpPr>
        <p:spPr>
          <a:xfrm>
            <a:off x="7159475" y="1763550"/>
            <a:ext cx="4038600" cy="3387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Especificación CU-01</a:t>
            </a:r>
            <a:endParaRPr/>
          </a:p>
        </p:txBody>
      </p:sp>
      <p:sp>
        <p:nvSpPr>
          <p:cNvPr id="240" name="Google Shape;240;p32"/>
          <p:cNvSpPr txBox="1"/>
          <p:nvPr/>
        </p:nvSpPr>
        <p:spPr>
          <a:xfrm>
            <a:off x="7132325" y="2102250"/>
            <a:ext cx="4426200" cy="3853500"/>
          </a:xfrm>
          <a:prstGeom prst="rect">
            <a:avLst/>
          </a:prstGeom>
          <a:noFill/>
          <a:ln>
            <a:noFill/>
          </a:ln>
        </p:spPr>
        <p:txBody>
          <a:bodyPr anchorCtr="0" anchor="ctr" bIns="45700" lIns="45700" spcFirstLastPara="1" rIns="45700" wrap="square" tIns="45700">
            <a:noAutofit/>
          </a:bodyPr>
          <a:lstStyle/>
          <a:p>
            <a:pPr indent="0" lvl="0" marL="0" rtl="0" algn="l">
              <a:lnSpc>
                <a:spcPct val="100000"/>
              </a:lnSpc>
              <a:spcBef>
                <a:spcPts val="0"/>
              </a:spcBef>
              <a:spcAft>
                <a:spcPts val="0"/>
              </a:spcAft>
              <a:buNone/>
            </a:pPr>
            <a:r>
              <a:rPr b="1" lang="es-CO" sz="1100">
                <a:solidFill>
                  <a:schemeClr val="dk1"/>
                </a:solidFill>
              </a:rPr>
              <a:t>Actores:</a:t>
            </a:r>
            <a:r>
              <a:rPr lang="es-CO" sz="1100">
                <a:solidFill>
                  <a:schemeClr val="dk1"/>
                </a:solidFill>
              </a:rPr>
              <a:t> Administrador y usuario.</a:t>
            </a:r>
            <a:endParaRPr sz="1100">
              <a:solidFill>
                <a:schemeClr val="dk1"/>
              </a:solidFill>
            </a:endParaRPr>
          </a:p>
          <a:p>
            <a:pPr indent="0" lvl="0" marL="0" rtl="0" algn="l">
              <a:lnSpc>
                <a:spcPct val="100000"/>
              </a:lnSpc>
              <a:spcBef>
                <a:spcPts val="100"/>
              </a:spcBef>
              <a:spcAft>
                <a:spcPts val="0"/>
              </a:spcAft>
              <a:buNone/>
            </a:pPr>
            <a:r>
              <a:rPr b="1" lang="es-CO" sz="1100">
                <a:solidFill>
                  <a:schemeClr val="dk1"/>
                </a:solidFill>
              </a:rPr>
              <a:t>Objetivo:</a:t>
            </a:r>
            <a:r>
              <a:rPr lang="es-CO" sz="1100">
                <a:solidFill>
                  <a:schemeClr val="dk1"/>
                </a:solidFill>
              </a:rPr>
              <a:t> Permitir que el administrador habilite el cambio de contraseña de una cuenta de usuario.</a:t>
            </a:r>
            <a:endParaRPr sz="1100">
              <a:solidFill>
                <a:schemeClr val="dk1"/>
              </a:solidFill>
            </a:endParaRPr>
          </a:p>
          <a:p>
            <a:pPr indent="0" lvl="0" marL="0" rtl="0" algn="l">
              <a:lnSpc>
                <a:spcPct val="100000"/>
              </a:lnSpc>
              <a:spcBef>
                <a:spcPts val="100"/>
              </a:spcBef>
              <a:spcAft>
                <a:spcPts val="0"/>
              </a:spcAft>
              <a:buNone/>
            </a:pPr>
            <a:r>
              <a:rPr b="1" lang="es-CO" sz="1100">
                <a:solidFill>
                  <a:schemeClr val="dk1"/>
                </a:solidFill>
              </a:rPr>
              <a:t>Precondiciones:</a:t>
            </a:r>
            <a:r>
              <a:rPr lang="es-CO" sz="1100">
                <a:solidFill>
                  <a:schemeClr val="dk1"/>
                </a:solidFill>
              </a:rPr>
              <a:t> El usuario debe estar registrado en el sistema y el administrador debe tener permisos para gestionar accesos.</a:t>
            </a:r>
            <a:endParaRPr sz="1100">
              <a:solidFill>
                <a:schemeClr val="dk1"/>
              </a:solidFill>
            </a:endParaRPr>
          </a:p>
          <a:p>
            <a:pPr indent="0" lvl="0" marL="0" rtl="0" algn="l">
              <a:lnSpc>
                <a:spcPct val="100000"/>
              </a:lnSpc>
              <a:spcBef>
                <a:spcPts val="100"/>
              </a:spcBef>
              <a:spcAft>
                <a:spcPts val="0"/>
              </a:spcAft>
              <a:buNone/>
            </a:pPr>
            <a:r>
              <a:rPr b="1" lang="es-CO" sz="1100">
                <a:solidFill>
                  <a:schemeClr val="dk1"/>
                </a:solidFill>
              </a:rPr>
              <a:t>Flujo principal:</a:t>
            </a:r>
            <a:endParaRPr b="1" sz="1100">
              <a:solidFill>
                <a:schemeClr val="dk1"/>
              </a:solidFill>
            </a:endParaRPr>
          </a:p>
          <a:p>
            <a:pPr indent="0" lvl="0" marL="0" rtl="0" algn="l">
              <a:lnSpc>
                <a:spcPct val="100000"/>
              </a:lnSpc>
              <a:spcBef>
                <a:spcPts val="100"/>
              </a:spcBef>
              <a:spcAft>
                <a:spcPts val="0"/>
              </a:spcAft>
              <a:buNone/>
            </a:pPr>
            <a:r>
              <a:rPr lang="es-CO" sz="1100">
                <a:solidFill>
                  <a:schemeClr val="dk1"/>
                </a:solidFill>
              </a:rPr>
              <a:t>El administrador selecciona la opción: Permitir cambio de Contraseña</a:t>
            </a:r>
            <a:endParaRPr sz="1100">
              <a:solidFill>
                <a:schemeClr val="dk1"/>
              </a:solidFill>
            </a:endParaRPr>
          </a:p>
          <a:p>
            <a:pPr indent="0" lvl="0" marL="0" rtl="0" algn="l">
              <a:lnSpc>
                <a:spcPct val="100000"/>
              </a:lnSpc>
              <a:spcBef>
                <a:spcPts val="100"/>
              </a:spcBef>
              <a:spcAft>
                <a:spcPts val="0"/>
              </a:spcAft>
              <a:buNone/>
            </a:pPr>
            <a:r>
              <a:rPr lang="es-CO" sz="1100">
                <a:solidFill>
                  <a:schemeClr val="dk1"/>
                </a:solidFill>
              </a:rPr>
              <a:t>El sistema muestra la información de la cuenta seleccionada.</a:t>
            </a:r>
            <a:endParaRPr sz="1100">
              <a:solidFill>
                <a:schemeClr val="dk1"/>
              </a:solidFill>
            </a:endParaRPr>
          </a:p>
          <a:p>
            <a:pPr indent="0" lvl="0" marL="0" rtl="0" algn="l">
              <a:lnSpc>
                <a:spcPct val="100000"/>
              </a:lnSpc>
              <a:spcBef>
                <a:spcPts val="100"/>
              </a:spcBef>
              <a:spcAft>
                <a:spcPts val="0"/>
              </a:spcAft>
              <a:buNone/>
            </a:pPr>
            <a:r>
              <a:rPr lang="es-CO" sz="1100">
                <a:solidFill>
                  <a:schemeClr val="dk1"/>
                </a:solidFill>
              </a:rPr>
              <a:t>El administrador habilita el cambio de contraseña.</a:t>
            </a:r>
            <a:endParaRPr sz="1100">
              <a:solidFill>
                <a:schemeClr val="dk1"/>
              </a:solidFill>
            </a:endParaRPr>
          </a:p>
          <a:p>
            <a:pPr indent="0" lvl="0" marL="0" rtl="0" algn="l">
              <a:lnSpc>
                <a:spcPct val="100000"/>
              </a:lnSpc>
              <a:spcBef>
                <a:spcPts val="100"/>
              </a:spcBef>
              <a:spcAft>
                <a:spcPts val="0"/>
              </a:spcAft>
              <a:buNone/>
            </a:pPr>
            <a:r>
              <a:rPr lang="es-CO" sz="1100">
                <a:solidFill>
                  <a:schemeClr val="dk1"/>
                </a:solidFill>
              </a:rPr>
              <a:t>El sistema valida la solicitud.</a:t>
            </a:r>
            <a:endParaRPr sz="1100">
              <a:solidFill>
                <a:schemeClr val="dk1"/>
              </a:solidFill>
            </a:endParaRPr>
          </a:p>
          <a:p>
            <a:pPr indent="0" lvl="0" marL="0" rtl="0" algn="l">
              <a:lnSpc>
                <a:spcPct val="100000"/>
              </a:lnSpc>
              <a:spcBef>
                <a:spcPts val="100"/>
              </a:spcBef>
              <a:spcAft>
                <a:spcPts val="0"/>
              </a:spcAft>
              <a:buNone/>
            </a:pPr>
            <a:r>
              <a:rPr lang="es-CO" sz="1100">
                <a:solidFill>
                  <a:schemeClr val="dk1"/>
                </a:solidFill>
              </a:rPr>
              <a:t>El administrador confirma la operación.</a:t>
            </a:r>
            <a:endParaRPr sz="1100">
              <a:solidFill>
                <a:schemeClr val="dk1"/>
              </a:solidFill>
            </a:endParaRPr>
          </a:p>
          <a:p>
            <a:pPr indent="0" lvl="0" marL="0" rtl="0" algn="l">
              <a:lnSpc>
                <a:spcPct val="100000"/>
              </a:lnSpc>
              <a:spcBef>
                <a:spcPts val="100"/>
              </a:spcBef>
              <a:spcAft>
                <a:spcPts val="0"/>
              </a:spcAft>
              <a:buNone/>
            </a:pPr>
            <a:r>
              <a:rPr lang="es-CO" sz="1100">
                <a:solidFill>
                  <a:schemeClr val="dk1"/>
                </a:solidFill>
              </a:rPr>
              <a:t>El sistema guarda la configuración.</a:t>
            </a:r>
            <a:endParaRPr sz="1100">
              <a:solidFill>
                <a:schemeClr val="dk1"/>
              </a:solidFill>
            </a:endParaRPr>
          </a:p>
          <a:p>
            <a:pPr indent="0" lvl="0" marL="0" rtl="0" algn="l">
              <a:lnSpc>
                <a:spcPct val="100000"/>
              </a:lnSpc>
              <a:spcBef>
                <a:spcPts val="100"/>
              </a:spcBef>
              <a:spcAft>
                <a:spcPts val="0"/>
              </a:spcAft>
              <a:buNone/>
            </a:pPr>
            <a:r>
              <a:rPr lang="es-CO" sz="1100">
                <a:solidFill>
                  <a:schemeClr val="dk1"/>
                </a:solidFill>
              </a:rPr>
              <a:t>El sistema confirma que el cambio de contraseña ha sido habilitado.</a:t>
            </a:r>
            <a:endParaRPr sz="1100">
              <a:solidFill>
                <a:schemeClr val="dk1"/>
              </a:solidFill>
            </a:endParaRPr>
          </a:p>
          <a:p>
            <a:pPr indent="0" lvl="0" marL="0" rtl="0" algn="l">
              <a:lnSpc>
                <a:spcPct val="100000"/>
              </a:lnSpc>
              <a:spcBef>
                <a:spcPts val="100"/>
              </a:spcBef>
              <a:spcAft>
                <a:spcPts val="0"/>
              </a:spcAft>
              <a:buNone/>
            </a:pPr>
            <a:r>
              <a:rPr b="1" lang="es-CO" sz="1100">
                <a:solidFill>
                  <a:schemeClr val="dk1"/>
                </a:solidFill>
              </a:rPr>
              <a:t>Flujos alternos:</a:t>
            </a:r>
            <a:endParaRPr b="1" sz="1100">
              <a:solidFill>
                <a:schemeClr val="dk1"/>
              </a:solidFill>
            </a:endParaRPr>
          </a:p>
          <a:p>
            <a:pPr indent="0" lvl="0" marL="0" rtl="0" algn="l">
              <a:lnSpc>
                <a:spcPct val="100000"/>
              </a:lnSpc>
              <a:spcBef>
                <a:spcPts val="100"/>
              </a:spcBef>
              <a:spcAft>
                <a:spcPts val="0"/>
              </a:spcAft>
              <a:buNone/>
            </a:pPr>
            <a:r>
              <a:rPr lang="es-CO" sz="1100">
                <a:solidFill>
                  <a:schemeClr val="dk1"/>
                </a:solidFill>
              </a:rPr>
              <a:t>5.1. El administrador cancela la operación y no se realizan cambios.</a:t>
            </a:r>
            <a:endParaRPr sz="1100">
              <a:solidFill>
                <a:schemeClr val="dk1"/>
              </a:solidFill>
            </a:endParaRPr>
          </a:p>
          <a:p>
            <a:pPr indent="0" lvl="0" marL="0" rtl="0" algn="l">
              <a:lnSpc>
                <a:spcPct val="100000"/>
              </a:lnSpc>
              <a:spcBef>
                <a:spcPts val="100"/>
              </a:spcBef>
              <a:spcAft>
                <a:spcPts val="0"/>
              </a:spcAft>
              <a:buNone/>
            </a:pPr>
            <a:r>
              <a:rPr lang="es-CO" sz="1100">
                <a:solidFill>
                  <a:schemeClr val="dk1"/>
                </a:solidFill>
              </a:rPr>
              <a:t>2.1. La cuenta no existe y el sistema informa al administrador.</a:t>
            </a:r>
            <a:endParaRPr sz="1100">
              <a:solidFill>
                <a:schemeClr val="dk1"/>
              </a:solidFill>
            </a:endParaRPr>
          </a:p>
          <a:p>
            <a:pPr indent="0" lvl="0" marL="0" rtl="0" algn="l">
              <a:lnSpc>
                <a:spcPct val="100000"/>
              </a:lnSpc>
              <a:spcBef>
                <a:spcPts val="100"/>
              </a:spcBef>
              <a:spcAft>
                <a:spcPts val="100"/>
              </a:spcAft>
              <a:buNone/>
            </a:pPr>
            <a:r>
              <a:rPr b="1" lang="es-CO" sz="1100">
                <a:solidFill>
                  <a:schemeClr val="dk1"/>
                </a:solidFill>
              </a:rPr>
              <a:t>Postcondiciones:</a:t>
            </a:r>
            <a:r>
              <a:rPr lang="es-CO" sz="1100">
                <a:solidFill>
                  <a:schemeClr val="dk1"/>
                </a:solidFill>
              </a:rPr>
              <a:t> El usuario queda habilitado para realizar el cambio de contraseña</a:t>
            </a:r>
            <a:r>
              <a:rPr lang="es-CO" sz="1200">
                <a:solidFill>
                  <a:schemeClr val="dk1"/>
                </a:solidFill>
              </a:rPr>
              <a:t>.</a:t>
            </a:r>
            <a:endParaRPr b="1" sz="1600">
              <a:solidFill>
                <a:srgbClr val="262626"/>
              </a:solidFill>
              <a:latin typeface="Calibri"/>
              <a:ea typeface="Calibri"/>
              <a:cs typeface="Calibri"/>
              <a:sym typeface="Calibri"/>
            </a:endParaRPr>
          </a:p>
        </p:txBody>
      </p:sp>
      <p:pic>
        <p:nvPicPr>
          <p:cNvPr id="241" name="Google Shape;241;p32"/>
          <p:cNvPicPr preferRelativeResize="0"/>
          <p:nvPr/>
        </p:nvPicPr>
        <p:blipFill>
          <a:blip r:embed="rId3">
            <a:alphaModFix/>
          </a:blip>
          <a:stretch>
            <a:fillRect/>
          </a:stretch>
        </p:blipFill>
        <p:spPr>
          <a:xfrm>
            <a:off x="489375" y="1700462"/>
            <a:ext cx="6368625" cy="4462925"/>
          </a:xfrm>
          <a:prstGeom prst="rect">
            <a:avLst/>
          </a:prstGeom>
          <a:solidFill>
            <a:srgbClr val="F3F4F2"/>
          </a:solidFill>
          <a:ln cap="flat" cmpd="sng" w="19050">
            <a:solidFill>
              <a:srgbClr val="38AA00"/>
            </a:solidFill>
            <a:prstDash val="dash"/>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3"/>
          <p:cNvSpPr txBox="1"/>
          <p:nvPr/>
        </p:nvSpPr>
        <p:spPr>
          <a:xfrm>
            <a:off x="1737360" y="2331720"/>
            <a:ext cx="8686800" cy="82296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4000" u="none" cap="none" strike="noStrike">
                <a:solidFill>
                  <a:srgbClr val="262626"/>
                </a:solidFill>
                <a:latin typeface="Calibri"/>
                <a:ea typeface="Calibri"/>
                <a:cs typeface="Calibri"/>
                <a:sym typeface="Calibri"/>
              </a:rPr>
              <a:t>Arquitectura del Software</a:t>
            </a:r>
            <a:endParaRPr/>
          </a:p>
        </p:txBody>
      </p:sp>
      <p:cxnSp>
        <p:nvCxnSpPr>
          <p:cNvPr id="248" name="Google Shape;248;p33"/>
          <p:cNvCxnSpPr/>
          <p:nvPr/>
        </p:nvCxnSpPr>
        <p:spPr>
          <a:xfrm>
            <a:off x="5230368" y="3310128"/>
            <a:ext cx="1737360" cy="0"/>
          </a:xfrm>
          <a:prstGeom prst="straightConnector1">
            <a:avLst/>
          </a:prstGeom>
          <a:noFill/>
          <a:ln cap="flat" cmpd="sng" w="19050">
            <a:solidFill>
              <a:srgbClr val="38AA00"/>
            </a:solidFill>
            <a:prstDash val="solid"/>
            <a:round/>
            <a:headEnd len="sm" w="sm" type="none"/>
            <a:tailEnd len="sm" w="sm" type="none"/>
          </a:ln>
          <a:effectLst>
            <a:outerShdw blurRad="40000" rotWithShape="0" dir="5400000" dist="20000">
              <a:srgbClr val="000000">
                <a:alpha val="38039"/>
              </a:srgbClr>
            </a:outerShdw>
          </a:effectLst>
        </p:spPr>
      </p:cxnSp>
      <p:sp>
        <p:nvSpPr>
          <p:cNvPr id="249" name="Google Shape;249;p33"/>
          <p:cNvSpPr txBox="1"/>
          <p:nvPr/>
        </p:nvSpPr>
        <p:spPr>
          <a:xfrm>
            <a:off x="2194560" y="3474720"/>
            <a:ext cx="7772400" cy="54864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None/>
            </a:pPr>
            <a:r>
              <a:rPr b="0" i="0" lang="es-CO" sz="1600" u="none" cap="none" strike="noStrike">
                <a:solidFill>
                  <a:srgbClr val="6B6B6B"/>
                </a:solidFill>
                <a:latin typeface="Calibri"/>
                <a:ea typeface="Calibri"/>
                <a:cs typeface="Calibri"/>
                <a:sym typeface="Calibri"/>
              </a:rPr>
              <a:t>Trimestre 3 · ítem 10 · vistas del sistema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Diagrama de Clases</a:t>
            </a:r>
            <a:endParaRPr/>
          </a:p>
        </p:txBody>
      </p:sp>
      <p:sp>
        <p:nvSpPr>
          <p:cNvPr id="256" name="Google Shape;256;p34"/>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7" name="Google Shape;257;p34"/>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T2–T3 · Ítem 10.3 · ⏱ </a:t>
            </a:r>
            <a:endParaRPr/>
          </a:p>
        </p:txBody>
      </p:sp>
      <p:sp>
        <p:nvSpPr>
          <p:cNvPr id="258" name="Google Shape;258;p34"/>
          <p:cNvSpPr/>
          <p:nvPr/>
        </p:nvSpPr>
        <p:spPr>
          <a:xfrm>
            <a:off x="548640" y="1874519"/>
            <a:ext cx="768096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9" name="Google Shape;259;p34"/>
          <p:cNvSpPr txBox="1"/>
          <p:nvPr/>
        </p:nvSpPr>
        <p:spPr>
          <a:xfrm>
            <a:off x="822959" y="3429000"/>
            <a:ext cx="713232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Diagrama de clases (versión actualizada)</a:t>
            </a:r>
            <a:endParaRPr/>
          </a:p>
        </p:txBody>
      </p:sp>
      <p:sp>
        <p:nvSpPr>
          <p:cNvPr id="260" name="Google Shape;260;p34"/>
          <p:cNvSpPr/>
          <p:nvPr/>
        </p:nvSpPr>
        <p:spPr>
          <a:xfrm>
            <a:off x="8503920" y="1874519"/>
            <a:ext cx="3108960" cy="4114800"/>
          </a:xfrm>
          <a:prstGeom prst="roundRect">
            <a:avLst>
              <a:gd fmla="val 4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1" name="Google Shape;261;p34"/>
          <p:cNvSpPr txBox="1"/>
          <p:nvPr/>
        </p:nvSpPr>
        <p:spPr>
          <a:xfrm>
            <a:off x="8732520" y="2039112"/>
            <a:ext cx="2651760" cy="4114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Destacar</a:t>
            </a:r>
            <a:endParaRPr/>
          </a:p>
        </p:txBody>
      </p:sp>
      <p:sp>
        <p:nvSpPr>
          <p:cNvPr id="262" name="Google Shape;262;p34"/>
          <p:cNvSpPr txBox="1"/>
          <p:nvPr/>
        </p:nvSpPr>
        <p:spPr>
          <a:xfrm>
            <a:off x="8732520" y="2514600"/>
            <a:ext cx="2651700" cy="3771000"/>
          </a:xfrm>
          <a:prstGeom prst="rect">
            <a:avLst/>
          </a:prstGeom>
          <a:noFill/>
          <a:ln>
            <a:noFill/>
          </a:ln>
        </p:spPr>
        <p:txBody>
          <a:bodyPr anchorCtr="0" anchor="t" bIns="45700" lIns="45700" spcFirstLastPara="1" rIns="45700" wrap="square" tIns="45700">
            <a:spAutoFit/>
          </a:bodyPr>
          <a:lstStyle/>
          <a:p>
            <a:pPr indent="-236982" lvl="0" marL="256032" marR="0" rtl="0" algn="l">
              <a:lnSpc>
                <a:spcPct val="100000"/>
              </a:lnSpc>
              <a:spcBef>
                <a:spcPts val="600"/>
              </a:spcBef>
              <a:spcAft>
                <a:spcPts val="0"/>
              </a:spcAft>
              <a:buClr>
                <a:srgbClr val="38AA00"/>
              </a:buClr>
              <a:buSzPts val="1100"/>
              <a:buFont typeface="Arial"/>
              <a:buChar char="•"/>
            </a:pPr>
            <a:r>
              <a:rPr lang="es-CO" sz="1100">
                <a:solidFill>
                  <a:srgbClr val="262626"/>
                </a:solidFill>
                <a:latin typeface="Calibri"/>
                <a:ea typeface="Calibri"/>
                <a:cs typeface="Calibri"/>
                <a:sym typeface="Calibri"/>
              </a:rPr>
              <a:t>Destacar Clases principales: Usuario, Administrador, Profesor y Estudiante. Atributos y métodos: Cada clase contiene sus datos y las funciones que puede realizar. Relaciones y multiplicidad: Se representan las conexiones entre las clases y la cantidad de objetos que pueden relacionarse. Organización del sistema: Las clases permiten gestionar estudiantes, profesores, asignaturas, actividades, resultados y juegos educativos. Objetivo: Modelar la estructura del sistema EduGameKids mediante la programación orientada a objetos</a:t>
            </a:r>
            <a:endParaRPr b="0" i="0" sz="1100" u="none" cap="none" strike="noStrike">
              <a:solidFill>
                <a:srgbClr val="262626"/>
              </a:solidFill>
              <a:latin typeface="Calibri"/>
              <a:ea typeface="Calibri"/>
              <a:cs typeface="Calibri"/>
              <a:sym typeface="Calibri"/>
            </a:endParaRPr>
          </a:p>
          <a:p>
            <a:pPr indent="-256032" lvl="0" marL="256032" marR="0" rtl="0" algn="l">
              <a:lnSpc>
                <a:spcPct val="100000"/>
              </a:lnSpc>
              <a:spcBef>
                <a:spcPts val="600"/>
              </a:spcBef>
              <a:spcAft>
                <a:spcPts val="0"/>
              </a:spcAft>
              <a:buClr>
                <a:srgbClr val="262626"/>
              </a:buClr>
              <a:buSzPts val="1400"/>
              <a:buFont typeface="Calibri"/>
              <a:buChar char="•"/>
            </a:pPr>
            <a:r>
              <a:rPr lang="es-CO" sz="1100" u="sng">
                <a:solidFill>
                  <a:schemeClr val="hlink"/>
                </a:solidFill>
                <a:latin typeface="Calibri"/>
                <a:ea typeface="Calibri"/>
                <a:cs typeface="Calibri"/>
                <a:sym typeface="Calibri"/>
                <a:hlinkClick r:id="rId3"/>
              </a:rPr>
              <a:t>https://drive.google.co</a:t>
            </a:r>
            <a:r>
              <a:rPr lang="es-CO" u="sng">
                <a:solidFill>
                  <a:schemeClr val="hlink"/>
                </a:solidFill>
                <a:latin typeface="Calibri"/>
                <a:ea typeface="Calibri"/>
                <a:cs typeface="Calibri"/>
                <a:sym typeface="Calibri"/>
                <a:hlinkClick r:id="rId4"/>
              </a:rPr>
              <a:t>m/file/d/</a:t>
            </a:r>
            <a:r>
              <a:rPr lang="es-CO" sz="1100" u="sng">
                <a:solidFill>
                  <a:schemeClr val="hlink"/>
                </a:solidFill>
                <a:latin typeface="Calibri"/>
                <a:ea typeface="Calibri"/>
                <a:cs typeface="Calibri"/>
                <a:sym typeface="Calibri"/>
                <a:hlinkClick r:id="rId5"/>
              </a:rPr>
              <a:t>1m7CQSlKll59vEKWyI9WVJmVmHPzZubeP/view?usp</a:t>
            </a:r>
            <a:endParaRPr sz="1100">
              <a:solidFill>
                <a:srgbClr val="262626"/>
              </a:solidFill>
              <a:latin typeface="Calibri"/>
              <a:ea typeface="Calibri"/>
              <a:cs typeface="Calibri"/>
              <a:sym typeface="Calibri"/>
            </a:endParaRPr>
          </a:p>
          <a:p>
            <a:pPr indent="-256032" lvl="0" marL="256032" marR="0" rtl="0" algn="l">
              <a:lnSpc>
                <a:spcPct val="100000"/>
              </a:lnSpc>
              <a:spcBef>
                <a:spcPts val="600"/>
              </a:spcBef>
              <a:spcAft>
                <a:spcPts val="0"/>
              </a:spcAft>
              <a:buClr>
                <a:srgbClr val="262626"/>
              </a:buClr>
              <a:buSzPts val="1400"/>
              <a:buFont typeface="Calibri"/>
              <a:buChar char="•"/>
            </a:pPr>
            <a:br>
              <a:rPr lang="es-CO">
                <a:solidFill>
                  <a:srgbClr val="262626"/>
                </a:solidFill>
                <a:latin typeface="Calibri"/>
                <a:ea typeface="Calibri"/>
                <a:cs typeface="Calibri"/>
                <a:sym typeface="Calibri"/>
              </a:rPr>
            </a:br>
            <a:endParaRPr>
              <a:solidFill>
                <a:srgbClr val="262626"/>
              </a:solidFill>
              <a:latin typeface="Calibri"/>
              <a:ea typeface="Calibri"/>
              <a:cs typeface="Calibri"/>
              <a:sym typeface="Calibri"/>
            </a:endParaRPr>
          </a:p>
        </p:txBody>
      </p:sp>
      <p:pic>
        <p:nvPicPr>
          <p:cNvPr id="263" name="Google Shape;263;p34"/>
          <p:cNvPicPr preferRelativeResize="0"/>
          <p:nvPr/>
        </p:nvPicPr>
        <p:blipFill>
          <a:blip r:embed="rId6">
            <a:alphaModFix/>
          </a:blip>
          <a:stretch>
            <a:fillRect/>
          </a:stretch>
        </p:blipFill>
        <p:spPr>
          <a:xfrm>
            <a:off x="446975" y="1568675"/>
            <a:ext cx="7782625" cy="5086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Diagrama de Componentes</a:t>
            </a:r>
            <a:endParaRPr/>
          </a:p>
        </p:txBody>
      </p:sp>
      <p:sp>
        <p:nvSpPr>
          <p:cNvPr id="270" name="Google Shape;270;p35"/>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1" name="Google Shape;271;p35"/>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T3 · Ítem 10.1 · ⏱ </a:t>
            </a:r>
            <a:endParaRPr/>
          </a:p>
        </p:txBody>
      </p:sp>
      <p:sp>
        <p:nvSpPr>
          <p:cNvPr id="272" name="Google Shape;272;p35"/>
          <p:cNvSpPr/>
          <p:nvPr/>
        </p:nvSpPr>
        <p:spPr>
          <a:xfrm>
            <a:off x="548640" y="1874519"/>
            <a:ext cx="768096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3" name="Google Shape;273;p35"/>
          <p:cNvSpPr txBox="1"/>
          <p:nvPr/>
        </p:nvSpPr>
        <p:spPr>
          <a:xfrm>
            <a:off x="822959" y="3429000"/>
            <a:ext cx="713232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Diagrama de componentes</a:t>
            </a:r>
            <a:endParaRPr/>
          </a:p>
        </p:txBody>
      </p:sp>
      <p:sp>
        <p:nvSpPr>
          <p:cNvPr id="274" name="Google Shape;274;p35"/>
          <p:cNvSpPr/>
          <p:nvPr/>
        </p:nvSpPr>
        <p:spPr>
          <a:xfrm>
            <a:off x="8503925" y="1734900"/>
            <a:ext cx="3385200" cy="4254300"/>
          </a:xfrm>
          <a:prstGeom prst="roundRect">
            <a:avLst>
              <a:gd fmla="val 4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5" name="Google Shape;275;p35"/>
          <p:cNvSpPr txBox="1"/>
          <p:nvPr/>
        </p:nvSpPr>
        <p:spPr>
          <a:xfrm>
            <a:off x="8620245" y="1734912"/>
            <a:ext cx="2651700" cy="3387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Destacar</a:t>
            </a:r>
            <a:endParaRPr/>
          </a:p>
        </p:txBody>
      </p:sp>
      <p:sp>
        <p:nvSpPr>
          <p:cNvPr id="276" name="Google Shape;276;p35"/>
          <p:cNvSpPr txBox="1"/>
          <p:nvPr/>
        </p:nvSpPr>
        <p:spPr>
          <a:xfrm>
            <a:off x="8592726" y="2166363"/>
            <a:ext cx="3207600" cy="40788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lang="es-CO" sz="1100">
                <a:solidFill>
                  <a:srgbClr val="262626"/>
                </a:solidFill>
                <a:latin typeface="Calibri"/>
                <a:ea typeface="Calibri"/>
                <a:cs typeface="Calibri"/>
                <a:sym typeface="Calibri"/>
              </a:rPr>
              <a:t>-Componentes del sistema: Administración, Contenido Educativo, Actividades y Juegos, Progreso y Seguimiento, Notificaciones, Gestión de Usuarios y Base de Datos. </a:t>
            </a:r>
            <a:endParaRPr sz="1100">
              <a:solidFill>
                <a:srgbClr val="262626"/>
              </a:solidFill>
              <a:latin typeface="Calibri"/>
              <a:ea typeface="Calibri"/>
              <a:cs typeface="Calibri"/>
              <a:sym typeface="Calibri"/>
            </a:endParaRPr>
          </a:p>
          <a:p>
            <a:pPr indent="0" lvl="0" marL="0" marR="0" rtl="0" algn="l">
              <a:lnSpc>
                <a:spcPct val="100000"/>
              </a:lnSpc>
              <a:spcBef>
                <a:spcPts val="0"/>
              </a:spcBef>
              <a:spcAft>
                <a:spcPts val="0"/>
              </a:spcAft>
              <a:buNone/>
            </a:pPr>
            <a:r>
              <a:rPr lang="es-CO" sz="1100">
                <a:solidFill>
                  <a:srgbClr val="262626"/>
                </a:solidFill>
                <a:latin typeface="Calibri"/>
                <a:ea typeface="Calibri"/>
                <a:cs typeface="Calibri"/>
                <a:sym typeface="Calibri"/>
              </a:rPr>
              <a:t>-Interfaces proporcionadas y requeridas: Los componentes se comunican entre sí para gestionar usuarios, mostrar contenidos educativos, ejecutar actividades, registrar avances y enviar notificaciones. -Dependencias internas: Los módulos dependen de la Base de Datos para almacenar y consultar información. El módulo de Progreso y Seguimiento utiliza los resultados de las actividades para registrar el avance de los estudiantes. </a:t>
            </a:r>
            <a:endParaRPr sz="1100">
              <a:solidFill>
                <a:srgbClr val="262626"/>
              </a:solidFill>
              <a:latin typeface="Calibri"/>
              <a:ea typeface="Calibri"/>
              <a:cs typeface="Calibri"/>
              <a:sym typeface="Calibri"/>
            </a:endParaRPr>
          </a:p>
          <a:p>
            <a:pPr indent="0" lvl="0" marL="0" marR="0" rtl="0" algn="l">
              <a:lnSpc>
                <a:spcPct val="100000"/>
              </a:lnSpc>
              <a:spcBef>
                <a:spcPts val="0"/>
              </a:spcBef>
              <a:spcAft>
                <a:spcPts val="0"/>
              </a:spcAft>
              <a:buNone/>
            </a:pPr>
            <a:r>
              <a:rPr lang="es-CO" sz="1100">
                <a:solidFill>
                  <a:srgbClr val="262626"/>
                </a:solidFill>
                <a:latin typeface="Calibri"/>
                <a:ea typeface="Calibri"/>
                <a:cs typeface="Calibri"/>
                <a:sym typeface="Calibri"/>
              </a:rPr>
              <a:t>-Dependencias externas: El sistema puede utilizar servicios externos de autenticación y envío de notificaciones, según la implementación. </a:t>
            </a:r>
            <a:endParaRPr sz="1100">
              <a:solidFill>
                <a:srgbClr val="262626"/>
              </a:solidFill>
              <a:latin typeface="Calibri"/>
              <a:ea typeface="Calibri"/>
              <a:cs typeface="Calibri"/>
              <a:sym typeface="Calibri"/>
            </a:endParaRPr>
          </a:p>
          <a:p>
            <a:pPr indent="0" lvl="0" marL="0" marR="0" rtl="0" algn="l">
              <a:lnSpc>
                <a:spcPct val="100000"/>
              </a:lnSpc>
              <a:spcBef>
                <a:spcPts val="0"/>
              </a:spcBef>
              <a:spcAft>
                <a:spcPts val="0"/>
              </a:spcAft>
              <a:buNone/>
            </a:pPr>
            <a:r>
              <a:rPr lang="es-CO" sz="1100">
                <a:solidFill>
                  <a:srgbClr val="262626"/>
                </a:solidFill>
                <a:latin typeface="Calibri"/>
                <a:ea typeface="Calibri"/>
                <a:cs typeface="Calibri"/>
                <a:sym typeface="Calibri"/>
              </a:rPr>
              <a:t>-Objetivo del diagrama: Representar la estructura del sistema EduGameKids, sus módulos principales y las relaciones entre ellos.</a:t>
            </a:r>
            <a:endParaRPr sz="1100">
              <a:solidFill>
                <a:srgbClr val="262626"/>
              </a:solidFill>
              <a:latin typeface="Calibri"/>
              <a:ea typeface="Calibri"/>
              <a:cs typeface="Calibri"/>
              <a:sym typeface="Calibri"/>
            </a:endParaRPr>
          </a:p>
          <a:p>
            <a:pPr indent="0" lvl="0" marL="0" marR="0" rtl="0" algn="l">
              <a:lnSpc>
                <a:spcPct val="100000"/>
              </a:lnSpc>
              <a:spcBef>
                <a:spcPts val="600"/>
              </a:spcBef>
              <a:spcAft>
                <a:spcPts val="0"/>
              </a:spcAft>
              <a:buNone/>
            </a:pPr>
            <a:r>
              <a:rPr lang="es-CO" sz="1000" u="sng">
                <a:solidFill>
                  <a:schemeClr val="hlink"/>
                </a:solidFill>
                <a:latin typeface="Calibri"/>
                <a:ea typeface="Calibri"/>
                <a:cs typeface="Calibri"/>
                <a:sym typeface="Calibri"/>
                <a:hlinkClick r:id="rId3"/>
              </a:rPr>
              <a:t>https://dr</a:t>
            </a:r>
            <a:r>
              <a:rPr lang="es-CO" sz="1300" u="sng">
                <a:solidFill>
                  <a:schemeClr val="hlink"/>
                </a:solidFill>
                <a:latin typeface="Calibri"/>
                <a:ea typeface="Calibri"/>
                <a:cs typeface="Calibri"/>
                <a:sym typeface="Calibri"/>
                <a:hlinkClick r:id="rId4"/>
              </a:rPr>
              <a:t>ive.google.com/file/d/1grw7_OkhRC1KOOSwIqhi63_0q7G2g5y5/view?usp</a:t>
            </a:r>
            <a:endParaRPr sz="1300">
              <a:solidFill>
                <a:srgbClr val="262626"/>
              </a:solidFill>
              <a:latin typeface="Calibri"/>
              <a:ea typeface="Calibri"/>
              <a:cs typeface="Calibri"/>
              <a:sym typeface="Calibri"/>
            </a:endParaRPr>
          </a:p>
          <a:p>
            <a:pPr indent="0" lvl="0" marL="0" marR="0" rtl="0" algn="l">
              <a:lnSpc>
                <a:spcPct val="100000"/>
              </a:lnSpc>
              <a:spcBef>
                <a:spcPts val="600"/>
              </a:spcBef>
              <a:spcAft>
                <a:spcPts val="0"/>
              </a:spcAft>
              <a:buNone/>
            </a:pPr>
            <a:r>
              <a:t/>
            </a:r>
            <a:endParaRPr>
              <a:solidFill>
                <a:srgbClr val="262626"/>
              </a:solidFill>
              <a:latin typeface="Calibri"/>
              <a:ea typeface="Calibri"/>
              <a:cs typeface="Calibri"/>
              <a:sym typeface="Calibri"/>
            </a:endParaRPr>
          </a:p>
        </p:txBody>
      </p:sp>
      <p:pic>
        <p:nvPicPr>
          <p:cNvPr id="277" name="Google Shape;277;p35"/>
          <p:cNvPicPr preferRelativeResize="0"/>
          <p:nvPr/>
        </p:nvPicPr>
        <p:blipFill>
          <a:blip r:embed="rId5">
            <a:alphaModFix/>
          </a:blip>
          <a:stretch>
            <a:fillRect/>
          </a:stretch>
        </p:blipFill>
        <p:spPr>
          <a:xfrm>
            <a:off x="621875" y="1690700"/>
            <a:ext cx="7736324" cy="4379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Diagrama de Paquetes</a:t>
            </a:r>
            <a:endParaRPr/>
          </a:p>
        </p:txBody>
      </p:sp>
      <p:sp>
        <p:nvSpPr>
          <p:cNvPr id="284" name="Google Shape;284;p36"/>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5" name="Google Shape;285;p36"/>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T3 · Ítem 10.2 · ⏱ </a:t>
            </a:r>
            <a:endParaRPr/>
          </a:p>
        </p:txBody>
      </p:sp>
      <p:sp>
        <p:nvSpPr>
          <p:cNvPr id="286" name="Google Shape;286;p36"/>
          <p:cNvSpPr/>
          <p:nvPr/>
        </p:nvSpPr>
        <p:spPr>
          <a:xfrm>
            <a:off x="548640" y="1874519"/>
            <a:ext cx="768096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7" name="Google Shape;287;p36"/>
          <p:cNvSpPr txBox="1"/>
          <p:nvPr/>
        </p:nvSpPr>
        <p:spPr>
          <a:xfrm>
            <a:off x="822959" y="3429000"/>
            <a:ext cx="713232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Diagrama de paquetes</a:t>
            </a:r>
            <a:endParaRPr/>
          </a:p>
        </p:txBody>
      </p:sp>
      <p:sp>
        <p:nvSpPr>
          <p:cNvPr id="288" name="Google Shape;288;p36"/>
          <p:cNvSpPr/>
          <p:nvPr/>
        </p:nvSpPr>
        <p:spPr>
          <a:xfrm>
            <a:off x="8503925" y="1745125"/>
            <a:ext cx="3230700" cy="4244100"/>
          </a:xfrm>
          <a:prstGeom prst="roundRect">
            <a:avLst>
              <a:gd fmla="val 4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9" name="Google Shape;289;p36"/>
          <p:cNvSpPr txBox="1"/>
          <p:nvPr/>
        </p:nvSpPr>
        <p:spPr>
          <a:xfrm>
            <a:off x="8589645" y="1745137"/>
            <a:ext cx="2651700" cy="3387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Destacar</a:t>
            </a:r>
            <a:endParaRPr/>
          </a:p>
        </p:txBody>
      </p:sp>
      <p:sp>
        <p:nvSpPr>
          <p:cNvPr id="290" name="Google Shape;290;p36"/>
          <p:cNvSpPr txBox="1"/>
          <p:nvPr/>
        </p:nvSpPr>
        <p:spPr>
          <a:xfrm>
            <a:off x="8535876" y="2138250"/>
            <a:ext cx="3166800" cy="3586500"/>
          </a:xfrm>
          <a:prstGeom prst="rect">
            <a:avLst/>
          </a:prstGeom>
          <a:noFill/>
          <a:ln>
            <a:noFill/>
          </a:ln>
        </p:spPr>
        <p:txBody>
          <a:bodyPr anchorCtr="0" anchor="t" bIns="45700" lIns="45700" spcFirstLastPara="1" rIns="45700" wrap="square" tIns="45700">
            <a:spAutoFit/>
          </a:bodyPr>
          <a:lstStyle/>
          <a:p>
            <a:pPr indent="-236982" lvl="0" marL="256032" marR="0" rtl="0" algn="l">
              <a:lnSpc>
                <a:spcPct val="100000"/>
              </a:lnSpc>
              <a:spcBef>
                <a:spcPts val="600"/>
              </a:spcBef>
              <a:spcAft>
                <a:spcPts val="0"/>
              </a:spcAft>
              <a:buClr>
                <a:srgbClr val="38AA00"/>
              </a:buClr>
              <a:buSzPts val="1100"/>
              <a:buFont typeface="Arial"/>
              <a:buChar char="•"/>
            </a:pPr>
            <a:r>
              <a:rPr lang="es-CO" sz="1100">
                <a:solidFill>
                  <a:srgbClr val="262626"/>
                </a:solidFill>
                <a:latin typeface="Calibri"/>
                <a:ea typeface="Calibri"/>
                <a:cs typeface="Calibri"/>
                <a:sym typeface="Calibri"/>
              </a:rPr>
              <a:t> Organización por capas o módulos: El sistema se divide en paquetes que agrupan funcionalidades relacionadas. </a:t>
            </a:r>
            <a:endParaRPr sz="1100">
              <a:solidFill>
                <a:srgbClr val="262626"/>
              </a:solidFill>
              <a:latin typeface="Calibri"/>
              <a:ea typeface="Calibri"/>
              <a:cs typeface="Calibri"/>
              <a:sym typeface="Calibri"/>
            </a:endParaRPr>
          </a:p>
          <a:p>
            <a:pPr indent="-236982" lvl="0" marL="256032" marR="0" rtl="0" algn="l">
              <a:lnSpc>
                <a:spcPct val="100000"/>
              </a:lnSpc>
              <a:spcBef>
                <a:spcPts val="600"/>
              </a:spcBef>
              <a:spcAft>
                <a:spcPts val="0"/>
              </a:spcAft>
              <a:buClr>
                <a:srgbClr val="38AA00"/>
              </a:buClr>
              <a:buSzPts val="1100"/>
              <a:buFont typeface="Arial"/>
              <a:buChar char="•"/>
            </a:pPr>
            <a:r>
              <a:rPr lang="es-CO" sz="1100">
                <a:solidFill>
                  <a:srgbClr val="262626"/>
                </a:solidFill>
                <a:latin typeface="Calibri"/>
                <a:ea typeface="Calibri"/>
                <a:cs typeface="Calibri"/>
                <a:sym typeface="Calibri"/>
              </a:rPr>
              <a:t>Dependencias entre paquetes: Las líneas punteadas representan la comunicación y las dependencias entre los diferentes paquetes. </a:t>
            </a:r>
            <a:endParaRPr sz="1100">
              <a:solidFill>
                <a:srgbClr val="262626"/>
              </a:solidFill>
              <a:latin typeface="Calibri"/>
              <a:ea typeface="Calibri"/>
              <a:cs typeface="Calibri"/>
              <a:sym typeface="Calibri"/>
            </a:endParaRPr>
          </a:p>
          <a:p>
            <a:pPr indent="-236982" lvl="0" marL="256032" marR="0" rtl="0" algn="l">
              <a:lnSpc>
                <a:spcPct val="100000"/>
              </a:lnSpc>
              <a:spcBef>
                <a:spcPts val="600"/>
              </a:spcBef>
              <a:spcAft>
                <a:spcPts val="0"/>
              </a:spcAft>
              <a:buClr>
                <a:srgbClr val="38AA00"/>
              </a:buClr>
              <a:buSzPts val="1100"/>
              <a:buFont typeface="Arial"/>
              <a:buChar char="•"/>
            </a:pPr>
            <a:r>
              <a:rPr lang="es-CO" sz="1100">
                <a:solidFill>
                  <a:srgbClr val="262626"/>
                </a:solidFill>
                <a:latin typeface="Calibri"/>
                <a:ea typeface="Calibri"/>
                <a:cs typeface="Calibri"/>
                <a:sym typeface="Calibri"/>
              </a:rPr>
              <a:t>Relación con los componentes: Cada paquete contiene o agrupa componentes que cumplen funciones específicas dentro del sistema. </a:t>
            </a:r>
            <a:endParaRPr sz="1100">
              <a:solidFill>
                <a:srgbClr val="262626"/>
              </a:solidFill>
              <a:latin typeface="Calibri"/>
              <a:ea typeface="Calibri"/>
              <a:cs typeface="Calibri"/>
              <a:sym typeface="Calibri"/>
            </a:endParaRPr>
          </a:p>
          <a:p>
            <a:pPr indent="-236982" lvl="0" marL="256032" marR="0" rtl="0" algn="l">
              <a:lnSpc>
                <a:spcPct val="100000"/>
              </a:lnSpc>
              <a:spcBef>
                <a:spcPts val="600"/>
              </a:spcBef>
              <a:spcAft>
                <a:spcPts val="0"/>
              </a:spcAft>
              <a:buClr>
                <a:srgbClr val="38AA00"/>
              </a:buClr>
              <a:buSzPts val="1100"/>
              <a:buFont typeface="Arial"/>
              <a:buChar char="•"/>
            </a:pPr>
            <a:r>
              <a:rPr lang="es-CO" sz="1100">
                <a:solidFill>
                  <a:srgbClr val="262626"/>
                </a:solidFill>
                <a:latin typeface="Calibri"/>
                <a:ea typeface="Calibri"/>
                <a:cs typeface="Calibri"/>
                <a:sym typeface="Calibri"/>
              </a:rPr>
              <a:t>Modularidad: Permite organizar el sistema de forma clara, facilitando su mantenimiento y actualización. </a:t>
            </a:r>
            <a:endParaRPr sz="1100">
              <a:solidFill>
                <a:srgbClr val="262626"/>
              </a:solidFill>
              <a:latin typeface="Calibri"/>
              <a:ea typeface="Calibri"/>
              <a:cs typeface="Calibri"/>
              <a:sym typeface="Calibri"/>
            </a:endParaRPr>
          </a:p>
          <a:p>
            <a:pPr indent="-236982" lvl="0" marL="256032" marR="0" rtl="0" algn="l">
              <a:lnSpc>
                <a:spcPct val="100000"/>
              </a:lnSpc>
              <a:spcBef>
                <a:spcPts val="600"/>
              </a:spcBef>
              <a:spcAft>
                <a:spcPts val="0"/>
              </a:spcAft>
              <a:buClr>
                <a:srgbClr val="38AA00"/>
              </a:buClr>
              <a:buSzPts val="1100"/>
              <a:buFont typeface="Arial"/>
              <a:buChar char="•"/>
            </a:pPr>
            <a:r>
              <a:rPr lang="es-CO" sz="1100">
                <a:solidFill>
                  <a:srgbClr val="262626"/>
                </a:solidFill>
                <a:latin typeface="Calibri"/>
                <a:ea typeface="Calibri"/>
                <a:cs typeface="Calibri"/>
                <a:sym typeface="Calibri"/>
              </a:rPr>
              <a:t>Separación de responsabilidades: Cada paquete cumple una función específica, como actividades y juegos, notificaciones, administración, progreso y seguimiento, y contenido educativo.</a:t>
            </a:r>
            <a:endParaRPr b="0" i="0" sz="1100" u="none" cap="none" strike="noStrike">
              <a:solidFill>
                <a:srgbClr val="262626"/>
              </a:solidFill>
              <a:latin typeface="Calibri"/>
              <a:ea typeface="Calibri"/>
              <a:cs typeface="Calibri"/>
              <a:sym typeface="Calibri"/>
            </a:endParaRPr>
          </a:p>
          <a:p>
            <a:pPr indent="-256032" lvl="0" marL="256032" marR="0" rtl="0" algn="l">
              <a:lnSpc>
                <a:spcPct val="100000"/>
              </a:lnSpc>
              <a:spcBef>
                <a:spcPts val="600"/>
              </a:spcBef>
              <a:spcAft>
                <a:spcPts val="0"/>
              </a:spcAft>
              <a:buClr>
                <a:srgbClr val="262626"/>
              </a:buClr>
              <a:buSzPts val="1400"/>
              <a:buFont typeface="Calibri"/>
              <a:buChar char="•"/>
            </a:pPr>
            <a:r>
              <a:rPr lang="es-CO" sz="900" u="sng">
                <a:solidFill>
                  <a:schemeClr val="hlink"/>
                </a:solidFill>
                <a:latin typeface="Calibri"/>
                <a:ea typeface="Calibri"/>
                <a:cs typeface="Calibri"/>
                <a:sym typeface="Calibri"/>
                <a:hlinkClick r:id="rId3"/>
              </a:rPr>
              <a:t>https://drive.g</a:t>
            </a:r>
            <a:r>
              <a:rPr lang="es-CO" sz="1200" u="sng">
                <a:solidFill>
                  <a:schemeClr val="hlink"/>
                </a:solidFill>
                <a:latin typeface="Calibri"/>
                <a:ea typeface="Calibri"/>
                <a:cs typeface="Calibri"/>
                <a:sym typeface="Calibri"/>
                <a:hlinkClick r:id="rId4"/>
              </a:rPr>
              <a:t>oogle.com/file/d/10bUCYu3C-h32i8qjqXw5WUv6Xww7LAfe/view?usp</a:t>
            </a:r>
            <a:endParaRPr>
              <a:solidFill>
                <a:srgbClr val="262626"/>
              </a:solidFill>
              <a:latin typeface="Calibri"/>
              <a:ea typeface="Calibri"/>
              <a:cs typeface="Calibri"/>
              <a:sym typeface="Calibri"/>
            </a:endParaRPr>
          </a:p>
        </p:txBody>
      </p:sp>
      <p:pic>
        <p:nvPicPr>
          <p:cNvPr id="291" name="Google Shape;291;p36"/>
          <p:cNvPicPr preferRelativeResize="0"/>
          <p:nvPr/>
        </p:nvPicPr>
        <p:blipFill rotWithShape="1">
          <a:blip r:embed="rId5">
            <a:alphaModFix/>
          </a:blip>
          <a:srcRect b="0" l="0" r="9107" t="0"/>
          <a:stretch/>
        </p:blipFill>
        <p:spPr>
          <a:xfrm>
            <a:off x="685800" y="1932094"/>
            <a:ext cx="7406625" cy="399965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7"/>
          <p:cNvSpPr txBox="1"/>
          <p:nvPr/>
        </p:nvSpPr>
        <p:spPr>
          <a:xfrm>
            <a:off x="1737360" y="2331720"/>
            <a:ext cx="8686800" cy="82296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4000" u="none" cap="none" strike="noStrike">
                <a:solidFill>
                  <a:srgbClr val="262626"/>
                </a:solidFill>
                <a:latin typeface="Calibri"/>
                <a:ea typeface="Calibri"/>
                <a:cs typeface="Calibri"/>
                <a:sym typeface="Calibri"/>
              </a:rPr>
              <a:t>Base de Datos</a:t>
            </a:r>
            <a:endParaRPr/>
          </a:p>
        </p:txBody>
      </p:sp>
      <p:cxnSp>
        <p:nvCxnSpPr>
          <p:cNvPr id="298" name="Google Shape;298;p37"/>
          <p:cNvCxnSpPr/>
          <p:nvPr/>
        </p:nvCxnSpPr>
        <p:spPr>
          <a:xfrm>
            <a:off x="5230368" y="3310128"/>
            <a:ext cx="1737360" cy="0"/>
          </a:xfrm>
          <a:prstGeom prst="straightConnector1">
            <a:avLst/>
          </a:prstGeom>
          <a:noFill/>
          <a:ln cap="flat" cmpd="sng" w="19050">
            <a:solidFill>
              <a:srgbClr val="38AA00"/>
            </a:solidFill>
            <a:prstDash val="solid"/>
            <a:round/>
            <a:headEnd len="sm" w="sm" type="none"/>
            <a:tailEnd len="sm" w="sm" type="none"/>
          </a:ln>
          <a:effectLst>
            <a:outerShdw blurRad="40000" rotWithShape="0" dir="5400000" dist="20000">
              <a:srgbClr val="000000">
                <a:alpha val="38039"/>
              </a:srgbClr>
            </a:outerShdw>
          </a:effectLst>
        </p:spPr>
      </p:cxnSp>
      <p:sp>
        <p:nvSpPr>
          <p:cNvPr id="299" name="Google Shape;299;p37"/>
          <p:cNvSpPr txBox="1"/>
          <p:nvPr/>
        </p:nvSpPr>
        <p:spPr>
          <a:xfrm>
            <a:off x="2194560" y="3474720"/>
            <a:ext cx="7772400" cy="54864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None/>
            </a:pPr>
            <a:r>
              <a:rPr b="0" i="0" lang="es-CO" sz="1600" u="none" cap="none" strike="noStrike">
                <a:solidFill>
                  <a:srgbClr val="6B6B6B"/>
                </a:solidFill>
                <a:latin typeface="Calibri"/>
                <a:ea typeface="Calibri"/>
                <a:cs typeface="Calibri"/>
                <a:sym typeface="Calibri"/>
              </a:rPr>
              <a:t>Del modelo (T2) a la implementación (T3) · ítems 4–7</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Modelo Entidad–Relación (MER)</a:t>
            </a:r>
            <a:endParaRPr/>
          </a:p>
        </p:txBody>
      </p:sp>
      <p:sp>
        <p:nvSpPr>
          <p:cNvPr id="306" name="Google Shape;306;p38"/>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7" name="Google Shape;307;p38"/>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T2 · Ítem 4 · ⏱ </a:t>
            </a:r>
            <a:endParaRPr/>
          </a:p>
        </p:txBody>
      </p:sp>
      <p:sp>
        <p:nvSpPr>
          <p:cNvPr id="308" name="Google Shape;308;p38"/>
          <p:cNvSpPr/>
          <p:nvPr/>
        </p:nvSpPr>
        <p:spPr>
          <a:xfrm>
            <a:off x="548640" y="1874519"/>
            <a:ext cx="768096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9" name="Google Shape;309;p38"/>
          <p:cNvSpPr txBox="1"/>
          <p:nvPr/>
        </p:nvSpPr>
        <p:spPr>
          <a:xfrm>
            <a:off x="822959" y="3429000"/>
            <a:ext cx="713232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Diagrama entidad–relación</a:t>
            </a:r>
            <a:endParaRPr/>
          </a:p>
        </p:txBody>
      </p:sp>
      <p:sp>
        <p:nvSpPr>
          <p:cNvPr id="310" name="Google Shape;310;p38"/>
          <p:cNvSpPr/>
          <p:nvPr/>
        </p:nvSpPr>
        <p:spPr>
          <a:xfrm>
            <a:off x="8503920" y="1874519"/>
            <a:ext cx="3108960" cy="4114800"/>
          </a:xfrm>
          <a:prstGeom prst="roundRect">
            <a:avLst>
              <a:gd fmla="val 4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1" name="Google Shape;311;p38"/>
          <p:cNvSpPr txBox="1"/>
          <p:nvPr/>
        </p:nvSpPr>
        <p:spPr>
          <a:xfrm>
            <a:off x="8732520" y="2039112"/>
            <a:ext cx="2651760" cy="4114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Destacar</a:t>
            </a:r>
            <a:endParaRPr/>
          </a:p>
        </p:txBody>
      </p:sp>
      <p:sp>
        <p:nvSpPr>
          <p:cNvPr id="312" name="Google Shape;312;p38"/>
          <p:cNvSpPr txBox="1"/>
          <p:nvPr/>
        </p:nvSpPr>
        <p:spPr>
          <a:xfrm>
            <a:off x="8732520" y="2514600"/>
            <a:ext cx="2651760" cy="3337560"/>
          </a:xfrm>
          <a:prstGeom prst="rect">
            <a:avLst/>
          </a:prstGeom>
          <a:noFill/>
          <a:ln>
            <a:noFill/>
          </a:ln>
        </p:spPr>
        <p:txBody>
          <a:bodyPr anchorCtr="0" anchor="t" bIns="45700" lIns="45700" spcFirstLastPara="1" rIns="45700" wrap="square" tIns="45700">
            <a:spAutoFit/>
          </a:bodyPr>
          <a:lstStyle/>
          <a:p>
            <a:pPr indent="-256032" lvl="0" marL="256032" marR="0" rtl="0" algn="l">
              <a:lnSpc>
                <a:spcPct val="100000"/>
              </a:lnSpc>
              <a:spcBef>
                <a:spcPts val="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Entidades principales</a:t>
            </a:r>
            <a:endParaRPr/>
          </a:p>
          <a:p>
            <a:pPr indent="-256032" lvl="0" marL="256032" marR="0" rtl="0" algn="l">
              <a:lnSpc>
                <a:spcPct val="100000"/>
              </a:lnSpc>
              <a:spcBef>
                <a:spcPts val="60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Atributos clave</a:t>
            </a:r>
            <a:endParaRPr/>
          </a:p>
          <a:p>
            <a:pPr indent="-256032" lvl="0" marL="256032" marR="0" rtl="0" algn="l">
              <a:lnSpc>
                <a:spcPct val="100000"/>
              </a:lnSpc>
              <a:spcBef>
                <a:spcPts val="60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Relaciones y cardinalidades</a:t>
            </a:r>
            <a:endParaRPr/>
          </a:p>
        </p:txBody>
      </p:sp>
      <p:pic>
        <p:nvPicPr>
          <p:cNvPr id="313" name="Google Shape;313;p38"/>
          <p:cNvPicPr preferRelativeResize="0"/>
          <p:nvPr/>
        </p:nvPicPr>
        <p:blipFill>
          <a:blip r:embed="rId3">
            <a:alphaModFix/>
          </a:blip>
          <a:stretch>
            <a:fillRect/>
          </a:stretch>
        </p:blipFill>
        <p:spPr>
          <a:xfrm>
            <a:off x="501225" y="1752050"/>
            <a:ext cx="7805225" cy="4447576"/>
          </a:xfrm>
          <a:prstGeom prst="rect">
            <a:avLst/>
          </a:prstGeom>
          <a:solidFill>
            <a:srgbClr val="F3F4F2"/>
          </a:solidFill>
          <a:ln cap="flat" cmpd="sng" w="19050">
            <a:solidFill>
              <a:srgbClr val="38AA00"/>
            </a:solidFill>
            <a:prstDash val="dash"/>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Modelo Relacional · lógico y físico</a:t>
            </a:r>
            <a:endParaRPr/>
          </a:p>
        </p:txBody>
      </p:sp>
      <p:sp>
        <p:nvSpPr>
          <p:cNvPr id="320" name="Google Shape;320;p39"/>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1" name="Google Shape;321;p39"/>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T2–T3 · Ítem 5 · ⏱ </a:t>
            </a:r>
            <a:endParaRPr/>
          </a:p>
        </p:txBody>
      </p:sp>
      <p:sp>
        <p:nvSpPr>
          <p:cNvPr id="322" name="Google Shape;322;p39"/>
          <p:cNvSpPr/>
          <p:nvPr/>
        </p:nvSpPr>
        <p:spPr>
          <a:xfrm>
            <a:off x="548640" y="1874519"/>
            <a:ext cx="768096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3" name="Google Shape;323;p39"/>
          <p:cNvSpPr txBox="1"/>
          <p:nvPr/>
        </p:nvSpPr>
        <p:spPr>
          <a:xfrm>
            <a:off x="822959" y="3429000"/>
            <a:ext cx="713232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Modelo relacional (MySQL Workbench u otro SGBD)</a:t>
            </a:r>
            <a:endParaRPr/>
          </a:p>
        </p:txBody>
      </p:sp>
      <p:sp>
        <p:nvSpPr>
          <p:cNvPr id="324" name="Google Shape;324;p39"/>
          <p:cNvSpPr/>
          <p:nvPr/>
        </p:nvSpPr>
        <p:spPr>
          <a:xfrm>
            <a:off x="8503920" y="1874519"/>
            <a:ext cx="3108960" cy="4114800"/>
          </a:xfrm>
          <a:prstGeom prst="roundRect">
            <a:avLst>
              <a:gd fmla="val 4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5" name="Google Shape;325;p39"/>
          <p:cNvSpPr txBox="1"/>
          <p:nvPr/>
        </p:nvSpPr>
        <p:spPr>
          <a:xfrm>
            <a:off x="8732520" y="2039112"/>
            <a:ext cx="2651760" cy="4114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Destacar</a:t>
            </a:r>
            <a:endParaRPr/>
          </a:p>
        </p:txBody>
      </p:sp>
      <p:sp>
        <p:nvSpPr>
          <p:cNvPr id="326" name="Google Shape;326;p39"/>
          <p:cNvSpPr txBox="1"/>
          <p:nvPr/>
        </p:nvSpPr>
        <p:spPr>
          <a:xfrm>
            <a:off x="8732520" y="2514600"/>
            <a:ext cx="2651760" cy="3337560"/>
          </a:xfrm>
          <a:prstGeom prst="rect">
            <a:avLst/>
          </a:prstGeom>
          <a:noFill/>
          <a:ln>
            <a:noFill/>
          </a:ln>
        </p:spPr>
        <p:txBody>
          <a:bodyPr anchorCtr="0" anchor="t" bIns="45700" lIns="45700" spcFirstLastPara="1" rIns="45700" wrap="square" tIns="45700">
            <a:spAutoFit/>
          </a:bodyPr>
          <a:lstStyle/>
          <a:p>
            <a:pPr indent="-256032" lvl="0" marL="256032" marR="0" rtl="0" algn="l">
              <a:lnSpc>
                <a:spcPct val="100000"/>
              </a:lnSpc>
              <a:spcBef>
                <a:spcPts val="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Tablas y tipos de datos</a:t>
            </a:r>
            <a:endParaRPr/>
          </a:p>
          <a:p>
            <a:pPr indent="-256032" lvl="0" marL="256032" marR="0" rtl="0" algn="l">
              <a:lnSpc>
                <a:spcPct val="100000"/>
              </a:lnSpc>
              <a:spcBef>
                <a:spcPts val="60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PK / FK</a:t>
            </a:r>
            <a:endParaRPr/>
          </a:p>
          <a:p>
            <a:pPr indent="-256032" lvl="0" marL="256032" marR="0" rtl="0" algn="l">
              <a:lnSpc>
                <a:spcPct val="100000"/>
              </a:lnSpc>
              <a:spcBef>
                <a:spcPts val="60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Restricciones e integridad referencial</a:t>
            </a:r>
            <a:endParaRPr/>
          </a:p>
        </p:txBody>
      </p:sp>
      <p:pic>
        <p:nvPicPr>
          <p:cNvPr id="327" name="Google Shape;327;p39"/>
          <p:cNvPicPr preferRelativeResize="0"/>
          <p:nvPr/>
        </p:nvPicPr>
        <p:blipFill>
          <a:blip r:embed="rId3">
            <a:alphaModFix/>
          </a:blip>
          <a:stretch>
            <a:fillRect/>
          </a:stretch>
        </p:blipFill>
        <p:spPr>
          <a:xfrm>
            <a:off x="892137" y="2192362"/>
            <a:ext cx="6993951" cy="3479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Scripts SQL y Consultas Multitabla</a:t>
            </a:r>
            <a:endParaRPr/>
          </a:p>
        </p:txBody>
      </p:sp>
      <p:sp>
        <p:nvSpPr>
          <p:cNvPr id="334" name="Google Shape;334;p40"/>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5" name="Google Shape;335;p40"/>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T3 · Ítem 6 · ⏱ </a:t>
            </a:r>
            <a:endParaRPr/>
          </a:p>
        </p:txBody>
      </p:sp>
      <p:sp>
        <p:nvSpPr>
          <p:cNvPr id="336" name="Google Shape;336;p40"/>
          <p:cNvSpPr/>
          <p:nvPr/>
        </p:nvSpPr>
        <p:spPr>
          <a:xfrm>
            <a:off x="548640" y="1874519"/>
            <a:ext cx="544068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7" name="Google Shape;337;p40"/>
          <p:cNvSpPr txBox="1"/>
          <p:nvPr/>
        </p:nvSpPr>
        <p:spPr>
          <a:xfrm>
            <a:off x="822959" y="3429000"/>
            <a:ext cx="489204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Script de creación y carga de datos (DDL / DML)</a:t>
            </a:r>
            <a:endParaRPr/>
          </a:p>
        </p:txBody>
      </p:sp>
      <p:sp>
        <p:nvSpPr>
          <p:cNvPr id="338" name="Google Shape;338;p40"/>
          <p:cNvSpPr/>
          <p:nvPr/>
        </p:nvSpPr>
        <p:spPr>
          <a:xfrm>
            <a:off x="6172200" y="1874525"/>
            <a:ext cx="567660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9" name="Google Shape;339;p40"/>
          <p:cNvSpPr txBox="1"/>
          <p:nvPr/>
        </p:nvSpPr>
        <p:spPr>
          <a:xfrm>
            <a:off x="6446520" y="3429000"/>
            <a:ext cx="489204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Consulta multitabla (JOIN) y su resultado</a:t>
            </a:r>
            <a:endParaRPr/>
          </a:p>
        </p:txBody>
      </p:sp>
      <p:pic>
        <p:nvPicPr>
          <p:cNvPr id="340" name="Google Shape;340;p40"/>
          <p:cNvPicPr preferRelativeResize="0"/>
          <p:nvPr/>
        </p:nvPicPr>
        <p:blipFill>
          <a:blip r:embed="rId3">
            <a:alphaModFix/>
          </a:blip>
          <a:stretch>
            <a:fillRect/>
          </a:stretch>
        </p:blipFill>
        <p:spPr>
          <a:xfrm>
            <a:off x="6314200" y="2102847"/>
            <a:ext cx="5392599" cy="3684629"/>
          </a:xfrm>
          <a:prstGeom prst="rect">
            <a:avLst/>
          </a:prstGeom>
          <a:noFill/>
          <a:ln>
            <a:noFill/>
          </a:ln>
        </p:spPr>
      </p:pic>
      <p:pic>
        <p:nvPicPr>
          <p:cNvPr id="341" name="Google Shape;341;p40"/>
          <p:cNvPicPr preferRelativeResize="0"/>
          <p:nvPr/>
        </p:nvPicPr>
        <p:blipFill>
          <a:blip r:embed="rId4">
            <a:alphaModFix/>
          </a:blip>
          <a:stretch>
            <a:fillRect/>
          </a:stretch>
        </p:blipFill>
        <p:spPr>
          <a:xfrm>
            <a:off x="838200" y="2003325"/>
            <a:ext cx="5137825" cy="3283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Procedimientos, Funciones y Triggers</a:t>
            </a:r>
            <a:endParaRPr/>
          </a:p>
        </p:txBody>
      </p:sp>
      <p:sp>
        <p:nvSpPr>
          <p:cNvPr id="348" name="Google Shape;348;p41"/>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9" name="Google Shape;349;p41"/>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T3 · Ítem 7 · ⏱ </a:t>
            </a:r>
            <a:endParaRPr/>
          </a:p>
        </p:txBody>
      </p:sp>
      <p:sp>
        <p:nvSpPr>
          <p:cNvPr id="350" name="Google Shape;350;p41"/>
          <p:cNvSpPr/>
          <p:nvPr/>
        </p:nvSpPr>
        <p:spPr>
          <a:xfrm>
            <a:off x="548640" y="1874519"/>
            <a:ext cx="3520440" cy="329184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1" name="Google Shape;351;p41"/>
          <p:cNvSpPr txBox="1"/>
          <p:nvPr/>
        </p:nvSpPr>
        <p:spPr>
          <a:xfrm>
            <a:off x="822959" y="3017520"/>
            <a:ext cx="297180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Código + ejecución</a:t>
            </a:r>
            <a:endParaRPr/>
          </a:p>
        </p:txBody>
      </p:sp>
      <p:sp>
        <p:nvSpPr>
          <p:cNvPr id="352" name="Google Shape;352;p41"/>
          <p:cNvSpPr txBox="1"/>
          <p:nvPr/>
        </p:nvSpPr>
        <p:spPr>
          <a:xfrm>
            <a:off x="548640" y="5303520"/>
            <a:ext cx="3520440" cy="4572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Procedimiento almacenado</a:t>
            </a:r>
            <a:endParaRPr/>
          </a:p>
        </p:txBody>
      </p:sp>
      <p:sp>
        <p:nvSpPr>
          <p:cNvPr id="353" name="Google Shape;353;p41"/>
          <p:cNvSpPr/>
          <p:nvPr/>
        </p:nvSpPr>
        <p:spPr>
          <a:xfrm>
            <a:off x="4297679" y="1874519"/>
            <a:ext cx="3520440" cy="329184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4" name="Google Shape;354;p41"/>
          <p:cNvSpPr txBox="1"/>
          <p:nvPr/>
        </p:nvSpPr>
        <p:spPr>
          <a:xfrm>
            <a:off x="4571999" y="3017520"/>
            <a:ext cx="297180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Código + resultado</a:t>
            </a:r>
            <a:endParaRPr/>
          </a:p>
        </p:txBody>
      </p:sp>
      <p:sp>
        <p:nvSpPr>
          <p:cNvPr id="355" name="Google Shape;355;p41"/>
          <p:cNvSpPr txBox="1"/>
          <p:nvPr/>
        </p:nvSpPr>
        <p:spPr>
          <a:xfrm>
            <a:off x="4297679" y="5303520"/>
            <a:ext cx="3520440" cy="4572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Función</a:t>
            </a:r>
            <a:endParaRPr/>
          </a:p>
        </p:txBody>
      </p:sp>
      <p:sp>
        <p:nvSpPr>
          <p:cNvPr id="356" name="Google Shape;356;p41"/>
          <p:cNvSpPr/>
          <p:nvPr/>
        </p:nvSpPr>
        <p:spPr>
          <a:xfrm>
            <a:off x="8046719" y="1874519"/>
            <a:ext cx="3520440" cy="329184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7" name="Google Shape;357;p41"/>
          <p:cNvSpPr txBox="1"/>
          <p:nvPr/>
        </p:nvSpPr>
        <p:spPr>
          <a:xfrm>
            <a:off x="8321040" y="3017520"/>
            <a:ext cx="297180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Regla de negocio que valida</a:t>
            </a:r>
            <a:endParaRPr/>
          </a:p>
        </p:txBody>
      </p:sp>
      <p:sp>
        <p:nvSpPr>
          <p:cNvPr id="358" name="Google Shape;358;p41"/>
          <p:cNvSpPr txBox="1"/>
          <p:nvPr/>
        </p:nvSpPr>
        <p:spPr>
          <a:xfrm>
            <a:off x="8046719" y="5303520"/>
            <a:ext cx="3520440" cy="4572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Trigger</a:t>
            </a:r>
            <a:endParaRPr/>
          </a:p>
        </p:txBody>
      </p:sp>
      <p:pic>
        <p:nvPicPr>
          <p:cNvPr id="359" name="Google Shape;359;p41"/>
          <p:cNvPicPr preferRelativeResize="0"/>
          <p:nvPr/>
        </p:nvPicPr>
        <p:blipFill>
          <a:blip r:embed="rId3">
            <a:alphaModFix/>
          </a:blip>
          <a:stretch>
            <a:fillRect/>
          </a:stretch>
        </p:blipFill>
        <p:spPr>
          <a:xfrm>
            <a:off x="4572000" y="1981075"/>
            <a:ext cx="2971800" cy="3038325"/>
          </a:xfrm>
          <a:prstGeom prst="rect">
            <a:avLst/>
          </a:prstGeom>
          <a:noFill/>
          <a:ln>
            <a:noFill/>
          </a:ln>
        </p:spPr>
      </p:pic>
      <p:pic>
        <p:nvPicPr>
          <p:cNvPr id="360" name="Google Shape;360;p41"/>
          <p:cNvPicPr preferRelativeResize="0"/>
          <p:nvPr/>
        </p:nvPicPr>
        <p:blipFill>
          <a:blip r:embed="rId4">
            <a:alphaModFix/>
          </a:blip>
          <a:stretch>
            <a:fillRect/>
          </a:stretch>
        </p:blipFill>
        <p:spPr>
          <a:xfrm>
            <a:off x="691075" y="1981075"/>
            <a:ext cx="3231054" cy="3038326"/>
          </a:xfrm>
          <a:prstGeom prst="rect">
            <a:avLst/>
          </a:prstGeom>
          <a:noFill/>
          <a:ln>
            <a:noFill/>
          </a:ln>
        </p:spPr>
      </p:pic>
      <p:pic>
        <p:nvPicPr>
          <p:cNvPr id="361" name="Google Shape;361;p41"/>
          <p:cNvPicPr preferRelativeResize="0"/>
          <p:nvPr/>
        </p:nvPicPr>
        <p:blipFill>
          <a:blip r:embed="rId5">
            <a:alphaModFix/>
          </a:blip>
          <a:stretch>
            <a:fillRect/>
          </a:stretch>
        </p:blipFill>
        <p:spPr>
          <a:xfrm>
            <a:off x="8135513" y="2018200"/>
            <a:ext cx="3342847" cy="2846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2"/>
          <p:cNvSpPr txBox="1"/>
          <p:nvPr/>
        </p:nvSpPr>
        <p:spPr>
          <a:xfrm>
            <a:off x="1737360" y="2331720"/>
            <a:ext cx="8686800" cy="82296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4000" u="none" cap="none" strike="noStrike">
                <a:solidFill>
                  <a:srgbClr val="262626"/>
                </a:solidFill>
                <a:latin typeface="Calibri"/>
                <a:ea typeface="Calibri"/>
                <a:cs typeface="Calibri"/>
                <a:sym typeface="Calibri"/>
              </a:rPr>
              <a:t>Diseño Web</a:t>
            </a:r>
            <a:endParaRPr/>
          </a:p>
        </p:txBody>
      </p:sp>
      <p:cxnSp>
        <p:nvCxnSpPr>
          <p:cNvPr id="368" name="Google Shape;368;p42"/>
          <p:cNvCxnSpPr/>
          <p:nvPr/>
        </p:nvCxnSpPr>
        <p:spPr>
          <a:xfrm>
            <a:off x="5230368" y="3310128"/>
            <a:ext cx="1737360" cy="0"/>
          </a:xfrm>
          <a:prstGeom prst="straightConnector1">
            <a:avLst/>
          </a:prstGeom>
          <a:noFill/>
          <a:ln cap="flat" cmpd="sng" w="19050">
            <a:solidFill>
              <a:srgbClr val="38AA00"/>
            </a:solidFill>
            <a:prstDash val="solid"/>
            <a:round/>
            <a:headEnd len="sm" w="sm" type="none"/>
            <a:tailEnd len="sm" w="sm" type="none"/>
          </a:ln>
          <a:effectLst>
            <a:outerShdw blurRad="40000" rotWithShape="0" dir="5400000" dist="20000">
              <a:srgbClr val="000000">
                <a:alpha val="38039"/>
              </a:srgbClr>
            </a:outerShdw>
          </a:effectLst>
        </p:spPr>
      </p:cxnSp>
      <p:sp>
        <p:nvSpPr>
          <p:cNvPr id="369" name="Google Shape;369;p42"/>
          <p:cNvSpPr txBox="1"/>
          <p:nvPr/>
        </p:nvSpPr>
        <p:spPr>
          <a:xfrm>
            <a:off x="2194560" y="3474720"/>
            <a:ext cx="7772400" cy="54864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None/>
            </a:pPr>
            <a:r>
              <a:rPr b="0" i="0" lang="es-CO" sz="1600" u="none" cap="none" strike="noStrike">
                <a:solidFill>
                  <a:srgbClr val="6B6B6B"/>
                </a:solidFill>
                <a:latin typeface="Calibri"/>
                <a:ea typeface="Calibri"/>
                <a:cs typeface="Calibri"/>
                <a:sym typeface="Calibri"/>
              </a:rPr>
              <a:t>Del wireframe (T2) a la página funcional (T3) · ítems 8–9</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Wireframe</a:t>
            </a:r>
            <a:endParaRPr/>
          </a:p>
        </p:txBody>
      </p:sp>
      <p:sp>
        <p:nvSpPr>
          <p:cNvPr id="376" name="Google Shape;376;p43"/>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7" name="Google Shape;377;p43"/>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T2 · Ítem 8 · ⏱</a:t>
            </a:r>
            <a:endParaRPr/>
          </a:p>
        </p:txBody>
      </p:sp>
      <p:sp>
        <p:nvSpPr>
          <p:cNvPr id="378" name="Google Shape;378;p43"/>
          <p:cNvSpPr/>
          <p:nvPr/>
        </p:nvSpPr>
        <p:spPr>
          <a:xfrm>
            <a:off x="548640" y="1874519"/>
            <a:ext cx="768096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9" name="Google Shape;379;p43"/>
          <p:cNvSpPr txBox="1"/>
          <p:nvPr/>
        </p:nvSpPr>
        <p:spPr>
          <a:xfrm>
            <a:off x="822959" y="3429000"/>
            <a:ext cx="713232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Wireframe del proceso principal</a:t>
            </a:r>
            <a:endParaRPr/>
          </a:p>
        </p:txBody>
      </p:sp>
      <p:sp>
        <p:nvSpPr>
          <p:cNvPr id="380" name="Google Shape;380;p43"/>
          <p:cNvSpPr/>
          <p:nvPr/>
        </p:nvSpPr>
        <p:spPr>
          <a:xfrm>
            <a:off x="8503920" y="1874519"/>
            <a:ext cx="3108960" cy="4114800"/>
          </a:xfrm>
          <a:prstGeom prst="roundRect">
            <a:avLst>
              <a:gd fmla="val 4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1" name="Google Shape;381;p43"/>
          <p:cNvSpPr txBox="1"/>
          <p:nvPr/>
        </p:nvSpPr>
        <p:spPr>
          <a:xfrm>
            <a:off x="8732520" y="2039112"/>
            <a:ext cx="2651760" cy="4114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Destacar</a:t>
            </a:r>
            <a:endParaRPr/>
          </a:p>
        </p:txBody>
      </p:sp>
      <p:sp>
        <p:nvSpPr>
          <p:cNvPr id="382" name="Google Shape;382;p43"/>
          <p:cNvSpPr txBox="1"/>
          <p:nvPr/>
        </p:nvSpPr>
        <p:spPr>
          <a:xfrm>
            <a:off x="8732520" y="2514600"/>
            <a:ext cx="2651760" cy="3337560"/>
          </a:xfrm>
          <a:prstGeom prst="rect">
            <a:avLst/>
          </a:prstGeom>
          <a:noFill/>
          <a:ln>
            <a:noFill/>
          </a:ln>
        </p:spPr>
        <p:txBody>
          <a:bodyPr anchorCtr="0" anchor="t" bIns="45700" lIns="45700" spcFirstLastPara="1" rIns="45700" wrap="square" tIns="45700">
            <a:spAutoFit/>
          </a:bodyPr>
          <a:lstStyle/>
          <a:p>
            <a:pPr indent="-256032" lvl="0" marL="256032" marR="0" rtl="0" algn="l">
              <a:lnSpc>
                <a:spcPct val="100000"/>
              </a:lnSpc>
              <a:spcBef>
                <a:spcPts val="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Estructura de la página</a:t>
            </a:r>
            <a:endParaRPr/>
          </a:p>
          <a:p>
            <a:pPr indent="-256032" lvl="0" marL="256032" marR="0" rtl="0" algn="l">
              <a:lnSpc>
                <a:spcPct val="100000"/>
              </a:lnSpc>
              <a:spcBef>
                <a:spcPts val="60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Distribución del contenido</a:t>
            </a:r>
            <a:endParaRPr/>
          </a:p>
          <a:p>
            <a:pPr indent="-256032" lvl="0" marL="256032" marR="0" rtl="0" algn="l">
              <a:lnSpc>
                <a:spcPct val="100000"/>
              </a:lnSpc>
              <a:spcBef>
                <a:spcPts val="60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Navegación</a:t>
            </a:r>
            <a:endParaRPr/>
          </a:p>
        </p:txBody>
      </p:sp>
      <p:pic>
        <p:nvPicPr>
          <p:cNvPr id="383" name="Google Shape;383;p43"/>
          <p:cNvPicPr preferRelativeResize="0"/>
          <p:nvPr/>
        </p:nvPicPr>
        <p:blipFill>
          <a:blip r:embed="rId3">
            <a:alphaModFix/>
          </a:blip>
          <a:stretch>
            <a:fillRect/>
          </a:stretch>
        </p:blipFill>
        <p:spPr>
          <a:xfrm>
            <a:off x="1413300" y="1945450"/>
            <a:ext cx="5637390" cy="3906700"/>
          </a:xfrm>
          <a:prstGeom prst="rect">
            <a:avLst/>
          </a:prstGeom>
          <a:solidFill>
            <a:srgbClr val="F3F4F2"/>
          </a:solidFill>
          <a:ln cap="flat" cmpd="sng" w="19050">
            <a:solidFill>
              <a:srgbClr val="38AA00"/>
            </a:solidFill>
            <a:prstDash val="dash"/>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Página Web Funcional</a:t>
            </a:r>
            <a:endParaRPr/>
          </a:p>
        </p:txBody>
      </p:sp>
      <p:sp>
        <p:nvSpPr>
          <p:cNvPr id="390" name="Google Shape;390;p44"/>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1" name="Google Shape;391;p44"/>
          <p:cNvSpPr txBox="1"/>
          <p:nvPr/>
        </p:nvSpPr>
        <p:spPr>
          <a:xfrm>
            <a:off x="8716975" y="6199632"/>
            <a:ext cx="3017400" cy="2061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T3 · Ítem 9 · ⏱ </a:t>
            </a:r>
            <a:endParaRPr/>
          </a:p>
        </p:txBody>
      </p:sp>
      <p:sp>
        <p:nvSpPr>
          <p:cNvPr id="392" name="Google Shape;392;p44"/>
          <p:cNvSpPr/>
          <p:nvPr/>
        </p:nvSpPr>
        <p:spPr>
          <a:xfrm>
            <a:off x="548640" y="1874519"/>
            <a:ext cx="768096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3" name="Google Shape;393;p44"/>
          <p:cNvSpPr txBox="1"/>
          <p:nvPr/>
        </p:nvSpPr>
        <p:spPr>
          <a:xfrm>
            <a:off x="822959" y="3429000"/>
            <a:ext cx="713232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Interfaz de inicio y formulario funcional (o demo en vivo)</a:t>
            </a:r>
            <a:endParaRPr/>
          </a:p>
        </p:txBody>
      </p:sp>
      <p:sp>
        <p:nvSpPr>
          <p:cNvPr id="394" name="Google Shape;394;p44"/>
          <p:cNvSpPr/>
          <p:nvPr/>
        </p:nvSpPr>
        <p:spPr>
          <a:xfrm>
            <a:off x="8503920" y="1874519"/>
            <a:ext cx="3108960" cy="4114800"/>
          </a:xfrm>
          <a:prstGeom prst="roundRect">
            <a:avLst>
              <a:gd fmla="val 4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5" name="Google Shape;395;p44"/>
          <p:cNvSpPr txBox="1"/>
          <p:nvPr/>
        </p:nvSpPr>
        <p:spPr>
          <a:xfrm>
            <a:off x="8732520" y="2039112"/>
            <a:ext cx="2651760" cy="41148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None/>
            </a:pPr>
            <a:r>
              <a:rPr b="1" i="0" lang="es-CO" sz="1600" u="none" cap="none" strike="noStrike">
                <a:solidFill>
                  <a:srgbClr val="2A7F00"/>
                </a:solidFill>
                <a:latin typeface="Calibri"/>
                <a:ea typeface="Calibri"/>
                <a:cs typeface="Calibri"/>
                <a:sym typeface="Calibri"/>
              </a:rPr>
              <a:t>Verificar</a:t>
            </a:r>
            <a:endParaRPr/>
          </a:p>
        </p:txBody>
      </p:sp>
      <p:sp>
        <p:nvSpPr>
          <p:cNvPr id="396" name="Google Shape;396;p44"/>
          <p:cNvSpPr txBox="1"/>
          <p:nvPr/>
        </p:nvSpPr>
        <p:spPr>
          <a:xfrm>
            <a:off x="8732520" y="2514600"/>
            <a:ext cx="2651760" cy="3337560"/>
          </a:xfrm>
          <a:prstGeom prst="rect">
            <a:avLst/>
          </a:prstGeom>
          <a:noFill/>
          <a:ln>
            <a:noFill/>
          </a:ln>
        </p:spPr>
        <p:txBody>
          <a:bodyPr anchorCtr="0" anchor="t" bIns="45700" lIns="45700" spcFirstLastPara="1" rIns="45700" wrap="square" tIns="45700">
            <a:spAutoFit/>
          </a:bodyPr>
          <a:lstStyle/>
          <a:p>
            <a:pPr indent="-256032" lvl="0" marL="256032" marR="0" rtl="0" algn="l">
              <a:lnSpc>
                <a:spcPct val="100000"/>
              </a:lnSpc>
              <a:spcBef>
                <a:spcPts val="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HTML5 semántico</a:t>
            </a:r>
            <a:endParaRPr/>
          </a:p>
          <a:p>
            <a:pPr indent="-256032" lvl="0" marL="256032" marR="0" rtl="0" algn="l">
              <a:lnSpc>
                <a:spcPct val="100000"/>
              </a:lnSpc>
              <a:spcBef>
                <a:spcPts val="60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CSS3 (diseño y estilos)</a:t>
            </a:r>
            <a:endParaRPr/>
          </a:p>
          <a:p>
            <a:pPr indent="-256032" lvl="0" marL="256032" marR="0" rtl="0" algn="l">
              <a:lnSpc>
                <a:spcPct val="100000"/>
              </a:lnSpc>
              <a:spcBef>
                <a:spcPts val="60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JavaScript dinámico</a:t>
            </a:r>
            <a:endParaRPr/>
          </a:p>
          <a:p>
            <a:pPr indent="-256032" lvl="0" marL="256032" marR="0" rtl="0" algn="l">
              <a:lnSpc>
                <a:spcPct val="100000"/>
              </a:lnSpc>
              <a:spcBef>
                <a:spcPts val="60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Formulario con validación</a:t>
            </a:r>
            <a:endParaRPr/>
          </a:p>
          <a:p>
            <a:pPr indent="-256032" lvl="0" marL="256032" marR="0" rtl="0" algn="l">
              <a:lnSpc>
                <a:spcPct val="100000"/>
              </a:lnSpc>
              <a:spcBef>
                <a:spcPts val="600"/>
              </a:spcBef>
              <a:spcAft>
                <a:spcPts val="0"/>
              </a:spcAft>
              <a:buClr>
                <a:srgbClr val="38AA00"/>
              </a:buClr>
              <a:buSzPts val="1400"/>
              <a:buFont typeface="Arial"/>
              <a:buChar char="•"/>
            </a:pPr>
            <a:r>
              <a:rPr b="0" i="0" lang="es-CO" sz="1400" u="none" cap="none" strike="noStrike">
                <a:solidFill>
                  <a:srgbClr val="262626"/>
                </a:solidFill>
                <a:latin typeface="Calibri"/>
                <a:ea typeface="Calibri"/>
                <a:cs typeface="Calibri"/>
                <a:sym typeface="Calibri"/>
              </a:rPr>
              <a:t>Accesibilidad</a:t>
            </a:r>
            <a:endParaRPr/>
          </a:p>
        </p:txBody>
      </p:sp>
      <p:pic>
        <p:nvPicPr>
          <p:cNvPr id="397" name="Google Shape;397;p44"/>
          <p:cNvPicPr preferRelativeResize="0"/>
          <p:nvPr/>
        </p:nvPicPr>
        <p:blipFill>
          <a:blip r:embed="rId3">
            <a:alphaModFix/>
          </a:blip>
          <a:stretch>
            <a:fillRect/>
          </a:stretch>
        </p:blipFill>
        <p:spPr>
          <a:xfrm>
            <a:off x="909175" y="2039102"/>
            <a:ext cx="6959876" cy="3642901"/>
          </a:xfrm>
          <a:prstGeom prst="rect">
            <a:avLst/>
          </a:prstGeom>
          <a:solidFill>
            <a:srgbClr val="F3F4F2"/>
          </a:solidFill>
          <a:ln cap="flat" cmpd="sng" w="19050">
            <a:solidFill>
              <a:srgbClr val="38AA00"/>
            </a:solidFill>
            <a:prstDash val="dash"/>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descr="Imagen que contiene Interfaz de usuario gráfica&#10;&#10;Descripción generada automáticamente" id="402" name="Google Shape;402;p9"/>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5"/>
          <p:cNvSpPr txBox="1"/>
          <p:nvPr/>
        </p:nvSpPr>
        <p:spPr>
          <a:xfrm>
            <a:off x="1737360" y="2331720"/>
            <a:ext cx="8686800" cy="82296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4000" u="none" cap="none" strike="noStrike">
                <a:solidFill>
                  <a:srgbClr val="262626"/>
                </a:solidFill>
                <a:latin typeface="Calibri"/>
                <a:ea typeface="Calibri"/>
                <a:cs typeface="Calibri"/>
                <a:sym typeface="Calibri"/>
              </a:rPr>
              <a:t>Anexos</a:t>
            </a:r>
            <a:endParaRPr/>
          </a:p>
        </p:txBody>
      </p:sp>
      <p:cxnSp>
        <p:nvCxnSpPr>
          <p:cNvPr id="409" name="Google Shape;409;p45"/>
          <p:cNvCxnSpPr/>
          <p:nvPr/>
        </p:nvCxnSpPr>
        <p:spPr>
          <a:xfrm>
            <a:off x="5230368" y="3310128"/>
            <a:ext cx="1737360" cy="0"/>
          </a:xfrm>
          <a:prstGeom prst="straightConnector1">
            <a:avLst/>
          </a:prstGeom>
          <a:noFill/>
          <a:ln cap="flat" cmpd="sng" w="19050">
            <a:solidFill>
              <a:srgbClr val="38AA00"/>
            </a:solidFill>
            <a:prstDash val="solid"/>
            <a:round/>
            <a:headEnd len="sm" w="sm" type="none"/>
            <a:tailEnd len="sm" w="sm" type="none"/>
          </a:ln>
          <a:effectLst>
            <a:outerShdw blurRad="40000" rotWithShape="0" dir="5400000" dist="20000">
              <a:srgbClr val="000000">
                <a:alpha val="38039"/>
              </a:srgbClr>
            </a:outerShdw>
          </a:effectLst>
        </p:spPr>
      </p:cxnSp>
      <p:sp>
        <p:nvSpPr>
          <p:cNvPr id="410" name="Google Shape;410;p45"/>
          <p:cNvSpPr txBox="1"/>
          <p:nvPr/>
        </p:nvSpPr>
        <p:spPr>
          <a:xfrm>
            <a:off x="2194560" y="3474720"/>
            <a:ext cx="7772400" cy="54864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None/>
            </a:pPr>
            <a:r>
              <a:rPr b="0" i="0" lang="es-CO" sz="1600" u="none" cap="none" strike="noStrike">
                <a:solidFill>
                  <a:srgbClr val="6B6B6B"/>
                </a:solidFill>
                <a:latin typeface="Calibri"/>
                <a:ea typeface="Calibri"/>
                <a:cs typeface="Calibri"/>
                <a:sym typeface="Calibri"/>
              </a:rPr>
              <a:t>Material de respaldo · no se expone, solo para preguntas del jurado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s-CO" sz="3000">
                <a:solidFill>
                  <a:srgbClr val="FFFFFF"/>
                </a:solidFill>
                <a:latin typeface="Calibri"/>
                <a:ea typeface="Calibri"/>
                <a:cs typeface="Calibri"/>
                <a:sym typeface="Calibri"/>
              </a:rPr>
              <a:t>Diccionario de Datos</a:t>
            </a:r>
            <a:endParaRPr/>
          </a:p>
        </p:txBody>
      </p:sp>
      <p:sp>
        <p:nvSpPr>
          <p:cNvPr id="417" name="Google Shape;417;p46"/>
          <p:cNvSpPr/>
          <p:nvPr/>
        </p:nvSpPr>
        <p:spPr>
          <a:xfrm>
            <a:off x="8716975" y="6199632"/>
            <a:ext cx="3017520" cy="384048"/>
          </a:xfrm>
          <a:prstGeom prst="roundRect">
            <a:avLst>
              <a:gd fmla="val 50000" name="adj"/>
            </a:avLst>
          </a:prstGeom>
          <a:solidFill>
            <a:srgbClr val="EEF7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8" name="Google Shape;418;p46"/>
          <p:cNvSpPr txBox="1"/>
          <p:nvPr/>
        </p:nvSpPr>
        <p:spPr>
          <a:xfrm>
            <a:off x="8716975" y="6199632"/>
            <a:ext cx="3017520" cy="384048"/>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s-CO" sz="1100" u="none" cap="none" strike="noStrike">
                <a:solidFill>
                  <a:srgbClr val="2A7F00"/>
                </a:solidFill>
                <a:latin typeface="Calibri"/>
                <a:ea typeface="Calibri"/>
                <a:cs typeface="Calibri"/>
                <a:sym typeface="Calibri"/>
              </a:rPr>
              <a:t>Anexo · T2</a:t>
            </a:r>
            <a:endParaRPr/>
          </a:p>
        </p:txBody>
      </p:sp>
      <p:sp>
        <p:nvSpPr>
          <p:cNvPr id="419" name="Google Shape;419;p46"/>
          <p:cNvSpPr/>
          <p:nvPr/>
        </p:nvSpPr>
        <p:spPr>
          <a:xfrm>
            <a:off x="548640" y="1874519"/>
            <a:ext cx="11064240" cy="4114800"/>
          </a:xfrm>
          <a:prstGeom prst="roundRect">
            <a:avLst>
              <a:gd fmla="val 3000" name="adj"/>
            </a:avLst>
          </a:prstGeom>
          <a:solidFill>
            <a:srgbClr val="F3F4F2"/>
          </a:solidFill>
          <a:ln cap="flat" cmpd="sng" w="19050">
            <a:solidFill>
              <a:srgbClr val="38AA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0" name="Google Shape;420;p46"/>
          <p:cNvSpPr txBox="1"/>
          <p:nvPr/>
        </p:nvSpPr>
        <p:spPr>
          <a:xfrm>
            <a:off x="822959" y="3429000"/>
            <a:ext cx="10515600" cy="100584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None/>
            </a:pPr>
            <a:r>
              <a:rPr b="1" i="0" lang="es-CO" sz="1800" u="none" cap="none" strike="noStrike">
                <a:solidFill>
                  <a:srgbClr val="2A7F00"/>
                </a:solidFill>
                <a:latin typeface="Calibri"/>
                <a:ea typeface="Calibri"/>
                <a:cs typeface="Calibri"/>
                <a:sym typeface="Calibri"/>
              </a:rPr>
              <a:t>Insertar imagen</a:t>
            </a:r>
            <a:endParaRPr/>
          </a:p>
          <a:p>
            <a:pPr indent="0" lvl="0" marL="0" marR="0" rtl="0" algn="ctr">
              <a:lnSpc>
                <a:spcPct val="100000"/>
              </a:lnSpc>
              <a:spcBef>
                <a:spcPts val="400"/>
              </a:spcBef>
              <a:spcAft>
                <a:spcPts val="0"/>
              </a:spcAft>
              <a:buNone/>
            </a:pPr>
            <a:r>
              <a:rPr b="0" i="0" lang="es-CO" sz="1300" u="none" cap="none" strike="noStrike">
                <a:solidFill>
                  <a:srgbClr val="6B6B6B"/>
                </a:solidFill>
                <a:latin typeface="Calibri"/>
                <a:ea typeface="Calibri"/>
                <a:cs typeface="Calibri"/>
                <a:sym typeface="Calibri"/>
              </a:rPr>
              <a:t>Diccionario de datos</a:t>
            </a:r>
            <a:endParaRPr/>
          </a:p>
        </p:txBody>
      </p:sp>
      <p:pic>
        <p:nvPicPr>
          <p:cNvPr id="421" name="Google Shape;421;p46"/>
          <p:cNvPicPr preferRelativeResize="0"/>
          <p:nvPr/>
        </p:nvPicPr>
        <p:blipFill>
          <a:blip r:embed="rId3">
            <a:alphaModFix/>
          </a:blip>
          <a:stretch>
            <a:fillRect/>
          </a:stretch>
        </p:blipFill>
        <p:spPr>
          <a:xfrm>
            <a:off x="924825" y="1962488"/>
            <a:ext cx="10176076" cy="3965350"/>
          </a:xfrm>
          <a:prstGeom prst="rect">
            <a:avLst/>
          </a:prstGeom>
          <a:solidFill>
            <a:srgbClr val="F3F4F2"/>
          </a:solidFill>
          <a:ln cap="flat" cmpd="sng" w="19050">
            <a:solidFill>
              <a:srgbClr val="38AA00"/>
            </a:solidFill>
            <a:prstDash val="dash"/>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Aprendiz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0x0101009C160BF63992044A99946E4B9FF8A5D5</vt:lpwstr>
  </property>
  <property fmtid="{D5CDD505-2E9C-101B-9397-08002B2CF9AE}" pid="3" name="MSIP_Label_fc111285-cafa-4fc9-8a9a-bd902089b24f_Enabled">
    <vt:lpwstr>true</vt:lpwstr>
  </property>
  <property fmtid="{D5CDD505-2E9C-101B-9397-08002B2CF9AE}" pid="4" name="MSIP_Label_fc111285-cafa-4fc9-8a9a-bd902089b24f_SetDate">
    <vt:lpwstr>2025-04-29T14:59:53Z</vt:lpwstr>
  </property>
  <property fmtid="{D5CDD505-2E9C-101B-9397-08002B2CF9AE}" pid="5" name="MSIP_Label_fc111285-cafa-4fc9-8a9a-bd902089b24f_Method">
    <vt:lpwstr>Standard</vt:lpwstr>
  </property>
  <property fmtid="{D5CDD505-2E9C-101B-9397-08002B2CF9AE}" pid="6" name="MSIP_Label_fc111285-cafa-4fc9-8a9a-bd902089b24f_Name">
    <vt:lpwstr>Public</vt:lpwstr>
  </property>
  <property fmtid="{D5CDD505-2E9C-101B-9397-08002B2CF9AE}" pid="7" name="MSIP_Label_fc111285-cafa-4fc9-8a9a-bd902089b24f_SiteId">
    <vt:lpwstr>cbc2c381-2f2e-4d93-91d1-506c9316ace7</vt:lpwstr>
  </property>
  <property fmtid="{D5CDD505-2E9C-101B-9397-08002B2CF9AE}" pid="8" name="MSIP_Label_fc111285-cafa-4fc9-8a9a-bd902089b24f_ActionId">
    <vt:lpwstr>ce55f0e1-8f0a-4d64-b728-361182c0950b</vt:lpwstr>
  </property>
  <property fmtid="{D5CDD505-2E9C-101B-9397-08002B2CF9AE}" pid="9" name="MSIP_Label_fc111285-cafa-4fc9-8a9a-bd902089b24f_ContentBits">
    <vt:lpwstr>0</vt:lpwstr>
  </property>
  <property fmtid="{D5CDD505-2E9C-101B-9397-08002B2CF9AE}" pid="10" name="MSIP_Label_fc111285-cafa-4fc9-8a9a-bd902089b24f_Tag">
    <vt:lpwstr>10, 3, 0, 2</vt:lpwstr>
  </property>
  <property fmtid="{D5CDD505-2E9C-101B-9397-08002B2CF9AE}" pid="11" name="MediaServiceImageTags">
    <vt:lpwstr/>
  </property>
</Properties>
</file>